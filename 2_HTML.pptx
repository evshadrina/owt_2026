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9" r:id="rId4"/>
    <p:sldId id="271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58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442" autoAdjust="0"/>
  </p:normalViewPr>
  <p:slideViewPr>
    <p:cSldViewPr>
      <p:cViewPr>
        <p:scale>
          <a:sx n="108" d="100"/>
          <a:sy n="108" d="100"/>
        </p:scale>
        <p:origin x="-1704" y="-72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D5552-6089-44C8-9E3F-DB2ABC7528BA}" type="datetimeFigureOut">
              <a:rPr lang="ru-RU" smtClean="0"/>
              <a:pPr/>
              <a:t>23.01.2015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CA395-0D7C-4801-9F8F-B11E2D7ADCE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58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Изначально язык HTML был задуман и создан как средство структурирования и форматирования  документов без привязки к средствам отображения. В идеале, гипертекстовый документ должен одинаково выглядеть на различных устройствах (монитор ПЭВМ, экран ПДА или мобильного телефона, принтер, медиа-проектор и т</a:t>
            </a: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XHTML (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eXtensible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Hypertext Markup Language — «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расширяемый язык разметки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гипертекста»)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более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строгие требования к синтаксису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 сравнению с 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ru-RU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Как и HTML, XHTML является подмножеством языка SGML, но основан на 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Документ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ru-RU" sz="1200" b="1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это текстовый файл, составленный из описаний типов элементов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самих элементов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языке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имеются следующие типы элементов: абзацы, списки, таблицы, изображения, гиперссылки и др. Разметка или описание типов элементов осуществляется с помощью тэгов. Каждый тип элемента имеет обозначение, совпадающее с  именем тега. Например, элемент типа абзац имеет имя р. 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Тег (html-тег, тег разметки) — управляющая символьная последовательность, которая задает способ отображения гипертекстовой информации.</a:t>
            </a:r>
          </a:p>
          <a:p>
            <a:pPr>
              <a:buFontTx/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HTML-тег состоит из имени, за которым может следовать необязательный список атрибутов. Весь тег (вместе с атрибутами) заключается в угловые скобки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правило, теги являются парными и состоят из начального и конечного тегов, между которыми и помещается информация. ТО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описание элемента обычно включает три части: начальный тег, содержимое элемента и конечный тег. Некоторые типы элементов не имеют содержимого, и описание таких типов элементов состоит только из начального тега.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Tx/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Имя конечного тега совпадает с именем начального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слэш.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Конечные теги никогда не содержат атрибутов. Некоторые теги не имеют конечного элемента, например тег &lt;img&gt;. Регистр символов для тегов не имеет значения,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имена тегов рекомендуется задавать строчными символами.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Структура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HTML-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документа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>
              <a:buFontTx/>
              <a:buChar char="-"/>
            </a:pP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Описание документа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начинается с указания его типа (секция DOCTYPE).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Стандарт требует, чтобы секция DOCTYPE присутствовала в документе, т.к. это позволяет ускорить и улучшить обработку гипертекста. Это достигается за счет того, что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браузер может не делать предположений о том, как интерпретировать теги, а свериться со стандартным определением (файлом .dtd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(document type definition))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Секция DOCTYPE указывает браузеру тип документа и версию использованного языка разметки. 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Tx/>
              <a:buChar char="-"/>
            </a:pP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Текст документа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заключается в теги &lt;html&gt;,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&lt;/html&gt;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обозначающие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начало и конец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документа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 </a:t>
            </a:r>
          </a:p>
          <a:p>
            <a:pPr>
              <a:buFontTx/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Содержимое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документа состоит из заголовка и тела, которые выделяются соответственно тегами &lt;head&gt; и &lt;body&gt;.</a:t>
            </a: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области заголовка (&lt;head&gt;) указывают название HTML-документа и другие параметры, которые браузер будет использовать при отображении документа. Информация,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расположенная в заголовке не отображается в окне браузера.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Тело документа (&lt;body&gt;) — это та часть, в которую помещается содержимое HTML-документа. Тело включает предназначенный для отображения текст и управляющую разметку документа (теги), которые определяют структуру и внешний вид документа при его отображении браузером.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Мета-тег HTML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это элемент разметки html, описывающий свойства документа.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Назначение мета-тега определяется набором его атрибутов, которые задаются в теге &lt;meta&gt;. Мета-теги размещают в блоке &lt;head&gt;...&lt;/head&gt; веб-страницы, не являются обязательными 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Приоритетным фактором для браузера по вопросу «в какой кодировке отображать документ» может являться переданный сервером заголовок. В этом случае браузер обязан игнорировать соответственные директивы в теге &lt;meta&gt;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Основное предназначение мета-тегов (&lt;meta ... /&gt;), это включение информации о документе, которая может содержать сведения об авторе, дате создания документа или авторских правах.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Вся информация, находящаяся в мета-тегах ориентирована на серверы, браузеры и поисковых роботов. Для посетителя веб-страницы информация, которую несут в себе мета-теги, будет не видна.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документе может находится любое количество тегов &lt;meta&gt;. Все они размещаются в блоке &lt;head&gt;...&lt;/head&gt;.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Представление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-документа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виде тегов языка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называется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-кодом.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Теги могут быть вложены, при этом форматирование внутреннего тега имеет преимущество перед внешним. При использовании вложенных тегов их нужно закрывать, начиная с самого последнего и двигаясь к первому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Гиперссылка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- это особым образом помеченный фрагмент веб-страницы (текст, изображение и др.), который связан с другим документом. Для указания гиперссылок используется тег </a:t>
            </a:r>
            <a:r>
              <a:rPr lang="ru-RU" dirty="0" smtClean="0"/>
              <a:t>&lt;a&gt;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Гиперссылки позволяют перемещаться между связанными веб-страницами.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Пример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одинарного тега (пустого элемента) – элемент перехода на новую строку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br.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Пустые элементы не имеют конечных тегов. Такие элементы не оказывают никакого действия на следующую за ними часть документа.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Элементы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 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имеют различные свойства, называемые атрибутами, которые могут иметь стандартные значения или задаваемые значения. ТО а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трибуты — это пары вида «свойство = значение», уточняющие представление соответствующего тега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Атрибуты указывают в начальном теге после имени тега,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через пробел. Н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есколько атрибутов разделяют одним или несколькими пробелами, табуляцией или символами конца строки. Значение атрибута, если таковое имеется, следует за знаком равенства, стоящим после имени атрибута. Порядок записи атрибутов в теге не важен. Если значение атрибута — одно слово или число, то его можно просто указать после знака равенства, не выделяя дополнительно. Все остальные значения необходимо заключать в двойные кавычки, особенно если они содержат несколько разделенных пробелами слов.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Атрибуты могут быть обязательными и не обязательными. Необязательные атрибуты могут быть опущены, тогда для тега применяется значение этого атрибута по умолчанию, определенное в спецификации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Если не указан обязательный атрибут, то содержимое тега скорее всего будет отображено неправильно.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Для включения специальных символов в </a:t>
            </a:r>
            <a:r>
              <a:rPr lang="en-US" dirty="0" smtClean="0"/>
              <a:t>HTML-</a:t>
            </a:r>
            <a:r>
              <a:rPr lang="ru-RU" dirty="0" smtClean="0"/>
              <a:t>документ</a:t>
            </a:r>
            <a:r>
              <a:rPr lang="ru-RU" baseline="0" dirty="0" smtClean="0"/>
              <a:t> для каждого символа используется специальная последовательность символов, называемая </a:t>
            </a:r>
            <a:r>
              <a:rPr lang="ru-RU" i="1" baseline="0" dirty="0" smtClean="0"/>
              <a:t>ссылкой на символ</a:t>
            </a:r>
            <a:r>
              <a:rPr lang="ru-RU" baseline="0" dirty="0" smtClean="0"/>
              <a:t>. Ссылка на символ может быть представлена в виде символьного имени символа или числового кода символа.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 элементам шрифтового оформления</a:t>
            </a:r>
            <a:r>
              <a:rPr lang="ru-RU" baseline="0" dirty="0" smtClean="0"/>
              <a:t> относят элементы, определяющие стиль шрифта и элементы управления шрифтами.</a:t>
            </a:r>
          </a:p>
          <a:p>
            <a:r>
              <a:rPr lang="ru-RU" b="1" baseline="0" dirty="0" smtClean="0"/>
              <a:t>Шрифт – набор символов одного алфавита, определенной гарнитуры, размера и начертания.</a:t>
            </a:r>
          </a:p>
          <a:p>
            <a:r>
              <a:rPr lang="ru-RU" b="1" baseline="0" dirty="0" smtClean="0"/>
              <a:t>Гарнитурой </a:t>
            </a:r>
            <a:r>
              <a:rPr lang="ru-RU" b="0" baseline="0" dirty="0" smtClean="0"/>
              <a:t>называют комплект шрифтов различных размеров и начертаний, но одинаковых по характеру рисунка.</a:t>
            </a:r>
            <a:endParaRPr lang="en-US" b="0" baseline="0" dirty="0" smtClean="0"/>
          </a:p>
          <a:p>
            <a:endParaRPr lang="en-US" b="0" baseline="0" dirty="0" smtClean="0"/>
          </a:p>
          <a:p>
            <a:r>
              <a:rPr lang="ru-RU" b="0" baseline="0" dirty="0" smtClean="0"/>
              <a:t>Элемент </a:t>
            </a:r>
            <a:r>
              <a:rPr lang="en-US" b="0" baseline="0" dirty="0" smtClean="0"/>
              <a:t>&lt;font&gt;</a:t>
            </a:r>
            <a:r>
              <a:rPr lang="ru-RU" b="0" baseline="0" dirty="0" smtClean="0"/>
              <a:t> устанавливает размер</a:t>
            </a:r>
            <a:r>
              <a:rPr lang="en-US" b="0" baseline="0" dirty="0" smtClean="0"/>
              <a:t> (size)</a:t>
            </a:r>
            <a:r>
              <a:rPr lang="ru-RU" b="0" baseline="0" dirty="0" smtClean="0"/>
              <a:t>, цвет</a:t>
            </a:r>
            <a:r>
              <a:rPr lang="en-US" b="0" baseline="0" dirty="0" smtClean="0"/>
              <a:t> (color)</a:t>
            </a:r>
            <a:r>
              <a:rPr lang="ru-RU" b="0" baseline="0" dirty="0" smtClean="0"/>
              <a:t> и гарнитуру</a:t>
            </a:r>
            <a:r>
              <a:rPr lang="en-US" b="0" baseline="0" dirty="0" smtClean="0"/>
              <a:t> (face)</a:t>
            </a:r>
            <a:r>
              <a:rPr lang="ru-RU" b="0" baseline="0" dirty="0" smtClean="0"/>
              <a:t> (группу) шрифта для отдельных фрагментов текста. </a:t>
            </a:r>
            <a:endParaRPr lang="en-US" b="0" baseline="0" dirty="0" smtClean="0"/>
          </a:p>
          <a:p>
            <a:r>
              <a:rPr lang="ru-RU" b="0" baseline="0" dirty="0" smtClean="0"/>
              <a:t>Размер шрифта, используемый по умолчанию</a:t>
            </a:r>
            <a:r>
              <a:rPr lang="en-US" b="0" baseline="0" dirty="0" smtClean="0"/>
              <a:t> (3)</a:t>
            </a:r>
            <a:r>
              <a:rPr lang="ru-RU" b="0" baseline="0" dirty="0" smtClean="0"/>
              <a:t>, называется базовым. Базовый размер шрифта можно изменить с помощью элемента </a:t>
            </a:r>
            <a:r>
              <a:rPr lang="en-US" b="0" i="1" baseline="0" dirty="0" err="1" smtClean="0"/>
              <a:t>basefont</a:t>
            </a:r>
            <a:r>
              <a:rPr lang="en-US" b="0" baseline="0" dirty="0" smtClean="0"/>
              <a:t>. </a:t>
            </a:r>
            <a:r>
              <a:rPr lang="ru-RU" b="1" baseline="0" dirty="0" smtClean="0"/>
              <a:t>Элемент </a:t>
            </a:r>
            <a:r>
              <a:rPr lang="en-US" b="1" i="1" baseline="0" dirty="0" err="1" smtClean="0"/>
              <a:t>basefont</a:t>
            </a:r>
            <a:r>
              <a:rPr lang="en-US" b="1" i="1" baseline="0" dirty="0" smtClean="0"/>
              <a:t> </a:t>
            </a:r>
            <a:r>
              <a:rPr lang="ru-RU" b="1" i="0" baseline="0" dirty="0" smtClean="0"/>
              <a:t>является пустым элементом и конечного тега не имеет</a:t>
            </a:r>
            <a:r>
              <a:rPr lang="ru-RU" b="0" i="0" baseline="0" dirty="0" smtClean="0"/>
              <a:t>. Записывается в виде </a:t>
            </a:r>
            <a:r>
              <a:rPr lang="en-US" b="0" i="0" baseline="0" dirty="0" smtClean="0"/>
              <a:t>&lt;</a:t>
            </a:r>
            <a:r>
              <a:rPr lang="en-US" b="0" i="0" baseline="0" dirty="0" err="1" smtClean="0"/>
              <a:t>basefont</a:t>
            </a:r>
            <a:r>
              <a:rPr lang="en-US" b="0" i="0" baseline="0" dirty="0" smtClean="0"/>
              <a:t> size=“n”&gt;</a:t>
            </a:r>
            <a:r>
              <a:rPr lang="ru-RU" b="0" i="0" baseline="0" dirty="0" smtClean="0"/>
              <a:t>, где </a:t>
            </a:r>
            <a:r>
              <a:rPr lang="en-US" b="0" i="0" baseline="0" dirty="0" smtClean="0"/>
              <a:t>n</a:t>
            </a:r>
            <a:r>
              <a:rPr lang="ru-RU" b="0" i="0" baseline="0" dirty="0" smtClean="0"/>
              <a:t> – размер шрифта (целое число от 1 до 7)</a:t>
            </a:r>
            <a:r>
              <a:rPr lang="en-US" b="0" i="0" baseline="0" dirty="0" smtClean="0"/>
              <a:t> </a:t>
            </a:r>
            <a:r>
              <a:rPr lang="ru-RU" b="0" i="0" baseline="0" dirty="0" smtClean="0"/>
              <a:t>или в виде </a:t>
            </a:r>
            <a:r>
              <a:rPr lang="en-US" b="0" i="0" baseline="0" dirty="0" smtClean="0"/>
              <a:t>&lt;</a:t>
            </a:r>
            <a:r>
              <a:rPr lang="en-US" b="0" i="0" baseline="0" dirty="0" err="1" smtClean="0"/>
              <a:t>basefont</a:t>
            </a:r>
            <a:r>
              <a:rPr lang="en-US" b="0" i="0" baseline="0" dirty="0" smtClean="0"/>
              <a:t> size=“</a:t>
            </a:r>
            <a:r>
              <a:rPr lang="ru-RU" b="0" i="0" baseline="0" dirty="0" smtClean="0"/>
              <a:t>+/- </a:t>
            </a:r>
            <a:r>
              <a:rPr lang="en-US" b="0" i="0" baseline="0" dirty="0" smtClean="0"/>
              <a:t>n”&gt;</a:t>
            </a:r>
            <a:r>
              <a:rPr lang="ru-RU" b="0" i="0" baseline="0" dirty="0" smtClean="0"/>
              <a:t>, где </a:t>
            </a:r>
            <a:r>
              <a:rPr lang="en-US" b="0" i="0" baseline="0" dirty="0" smtClean="0"/>
              <a:t>n</a:t>
            </a:r>
            <a:r>
              <a:rPr lang="ru-RU" b="0" i="0" baseline="0" dirty="0" smtClean="0"/>
              <a:t> – значение увеличения (уменьшения) размера шрифта.</a:t>
            </a:r>
          </a:p>
          <a:p>
            <a:r>
              <a:rPr lang="ru-RU" b="0" i="0" baseline="0" dirty="0" smtClean="0"/>
              <a:t>Значением по умолчанию атрибута </a:t>
            </a:r>
            <a:r>
              <a:rPr lang="en-US" b="0" i="0" baseline="0" dirty="0" smtClean="0"/>
              <a:t>color</a:t>
            </a:r>
            <a:r>
              <a:rPr lang="ru-RU" b="0" i="0" baseline="0" dirty="0" smtClean="0"/>
              <a:t> является </a:t>
            </a:r>
            <a:r>
              <a:rPr lang="en-US" b="0" i="0" baseline="0" dirty="0" smtClean="0"/>
              <a:t>black.</a:t>
            </a:r>
          </a:p>
          <a:p>
            <a:r>
              <a:rPr lang="ru-RU" b="0" i="0" baseline="0" dirty="0" smtClean="0"/>
              <a:t>Атрибут </a:t>
            </a:r>
            <a:r>
              <a:rPr lang="en-US" b="0" i="0" baseline="0" dirty="0" smtClean="0"/>
              <a:t>face</a:t>
            </a:r>
            <a:r>
              <a:rPr lang="ru-RU" b="0" i="0" baseline="0" dirty="0" smtClean="0"/>
              <a:t> устанавливает гарнитуру или категорию шрифта. Значением по умолчанию атрибута </a:t>
            </a:r>
            <a:r>
              <a:rPr lang="en-US" b="0" i="0" baseline="0" dirty="0" smtClean="0"/>
              <a:t>face </a:t>
            </a:r>
            <a:r>
              <a:rPr lang="ru-RU" b="0" i="0" baseline="0" dirty="0" smtClean="0"/>
              <a:t>элемента </a:t>
            </a:r>
            <a:r>
              <a:rPr lang="en-US" b="0" i="0" baseline="0" dirty="0" smtClean="0"/>
              <a:t>font</a:t>
            </a:r>
            <a:r>
              <a:rPr lang="ru-RU" b="0" i="0" baseline="0" dirty="0" smtClean="0"/>
              <a:t> является гарнитура шрифта, установленная в свойстве «шрифты» браузера.</a:t>
            </a:r>
          </a:p>
          <a:p>
            <a:r>
              <a:rPr lang="ru-RU" b="0" i="0" baseline="0" dirty="0" smtClean="0"/>
              <a:t>Значения цвета задают в виде стандартных названий цветов или значений </a:t>
            </a:r>
            <a:r>
              <a:rPr lang="en-US" b="0" i="0" baseline="0" dirty="0" smtClean="0"/>
              <a:t>RGB</a:t>
            </a:r>
            <a:r>
              <a:rPr lang="ru-RU" b="0" i="0" baseline="0" dirty="0" smtClean="0"/>
              <a:t> в виде шестнадцатеричного числа.</a:t>
            </a:r>
            <a:endParaRPr lang="ru-R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Элементы структурирования определяют структуру документа и выделяют фрагменты текста, имеющие специальное значение,</a:t>
            </a:r>
            <a:r>
              <a:rPr lang="ru-RU" baseline="0" dirty="0" smtClean="0"/>
              <a:t> контекст или употребление.</a:t>
            </a:r>
            <a:endParaRPr lang="en-US" baseline="0" dirty="0" smtClean="0"/>
          </a:p>
          <a:p>
            <a:r>
              <a:rPr lang="ru-RU" baseline="0" dirty="0" smtClean="0"/>
              <a:t>Для разметки списков в документе </a:t>
            </a:r>
            <a:r>
              <a:rPr lang="en-US" baseline="0" dirty="0" smtClean="0"/>
              <a:t>HTML </a:t>
            </a:r>
            <a:r>
              <a:rPr lang="ru-RU" baseline="0" dirty="0" smtClean="0"/>
              <a:t>предусмотрено три элемента типа список:</a:t>
            </a:r>
          </a:p>
          <a:p>
            <a:pPr>
              <a:buFontTx/>
              <a:buChar char="-"/>
            </a:pPr>
            <a:r>
              <a:rPr lang="ru-RU" baseline="0" dirty="0" smtClean="0"/>
              <a:t>Неупорядоченный список;</a:t>
            </a:r>
          </a:p>
          <a:p>
            <a:pPr>
              <a:buFontTx/>
              <a:buChar char="-"/>
            </a:pPr>
            <a:r>
              <a:rPr lang="ru-RU" baseline="0" dirty="0" smtClean="0"/>
              <a:t> упорядоченный список;</a:t>
            </a:r>
          </a:p>
          <a:p>
            <a:pPr>
              <a:buFontTx/>
              <a:buChar char="-"/>
            </a:pPr>
            <a:r>
              <a:rPr lang="ru-RU" baseline="0" dirty="0" smtClean="0"/>
              <a:t> список определений.</a:t>
            </a:r>
            <a:endParaRPr lang="en-US" baseline="0" dirty="0" smtClean="0"/>
          </a:p>
          <a:p>
            <a:pPr>
              <a:buFontTx/>
              <a:buNone/>
            </a:pPr>
            <a:r>
              <a:rPr lang="ru-RU" baseline="0" dirty="0" smtClean="0"/>
              <a:t>Элемент </a:t>
            </a:r>
            <a:r>
              <a:rPr lang="en-US" baseline="0" dirty="0" err="1" smtClean="0"/>
              <a:t>li</a:t>
            </a:r>
            <a:r>
              <a:rPr lang="ru-RU" baseline="0" dirty="0" smtClean="0"/>
              <a:t> используется для определения элементов списка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Для размещения изображения на </a:t>
            </a:r>
            <a:r>
              <a:rPr lang="en-US" dirty="0" smtClean="0"/>
              <a:t>web</a:t>
            </a:r>
            <a:r>
              <a:rPr lang="ru-RU" dirty="0" smtClean="0"/>
              <a:t>-странице</a:t>
            </a:r>
            <a:r>
              <a:rPr lang="ru-RU" baseline="0" dirty="0" smtClean="0"/>
              <a:t> используется пустой элемент </a:t>
            </a:r>
            <a:r>
              <a:rPr lang="en-US" baseline="0" dirty="0" err="1" smtClean="0"/>
              <a:t>img</a:t>
            </a:r>
            <a:r>
              <a:rPr lang="ru-RU" baseline="0" dirty="0" smtClean="0"/>
              <a:t>. </a:t>
            </a:r>
            <a:endParaRPr lang="en-US" baseline="0" dirty="0" smtClean="0"/>
          </a:p>
          <a:p>
            <a:r>
              <a:rPr lang="ru-RU" baseline="0" dirty="0" smtClean="0"/>
              <a:t>Атрибут </a:t>
            </a:r>
            <a:r>
              <a:rPr lang="en-US" baseline="0" dirty="0" smtClean="0"/>
              <a:t>alt</a:t>
            </a:r>
            <a:r>
              <a:rPr lang="ru-RU" baseline="0" dirty="0" smtClean="0"/>
              <a:t> элемента </a:t>
            </a:r>
            <a:r>
              <a:rPr lang="en-US" baseline="0" dirty="0" err="1" smtClean="0"/>
              <a:t>img</a:t>
            </a:r>
            <a:r>
              <a:rPr lang="ru-RU" baseline="0" dirty="0" smtClean="0"/>
              <a:t> предоставляет возможность снабдить изображение текстовым описанием, комментарием. Этот текст браузер может показать, если вывод изображения невозможен или заблокирован пользователем. Текст, помещенный в атрибуте </a:t>
            </a:r>
            <a:r>
              <a:rPr lang="en-US" baseline="0" dirty="0" smtClean="0"/>
              <a:t>alt</a:t>
            </a:r>
            <a:r>
              <a:rPr lang="ru-RU" baseline="0" dirty="0" smtClean="0"/>
              <a:t>, браузер выводит в виде всплывающей подсказки, когда указатель мыши располагается над изображением.</a:t>
            </a:r>
          </a:p>
          <a:p>
            <a:r>
              <a:rPr lang="ru-RU" baseline="0" dirty="0" smtClean="0"/>
              <a:t>Если в элементе </a:t>
            </a:r>
            <a:r>
              <a:rPr lang="en-US" baseline="0" dirty="0" err="1" smtClean="0"/>
              <a:t>img</a:t>
            </a:r>
            <a:r>
              <a:rPr lang="ru-RU" baseline="0" dirty="0" smtClean="0"/>
              <a:t> не используются атрибуты </a:t>
            </a:r>
            <a:r>
              <a:rPr lang="en-US" baseline="0" dirty="0" smtClean="0"/>
              <a:t>width </a:t>
            </a:r>
            <a:r>
              <a:rPr lang="ru-RU" baseline="0" dirty="0" smtClean="0"/>
              <a:t>и </a:t>
            </a:r>
            <a:r>
              <a:rPr lang="en-US" baseline="0" dirty="0" smtClean="0"/>
              <a:t>height</a:t>
            </a:r>
            <a:r>
              <a:rPr lang="ru-RU" baseline="0" dirty="0" smtClean="0"/>
              <a:t>, то размеры области вывода изображения равны размерам изображения в пикселях. Значения ширины и высоты также задаются в пикселях</a:t>
            </a:r>
            <a:endParaRPr lang="en-US" baseline="0" dirty="0" smtClean="0"/>
          </a:p>
          <a:p>
            <a:r>
              <a:rPr lang="ru-RU" baseline="0" dirty="0" smtClean="0"/>
              <a:t>Центрировать изображение по горизонтали можно, только изолировав его от окружающего содержимого с помощью элемента </a:t>
            </a:r>
            <a:r>
              <a:rPr lang="en-US" baseline="0" dirty="0" smtClean="0"/>
              <a:t>p </a:t>
            </a:r>
            <a:r>
              <a:rPr lang="ru-RU" baseline="0" dirty="0" smtClean="0"/>
              <a:t>(абзац) или элемента </a:t>
            </a:r>
            <a:r>
              <a:rPr lang="en-US" baseline="0" dirty="0" smtClean="0"/>
              <a:t>center </a:t>
            </a:r>
            <a:r>
              <a:rPr lang="ru-RU" baseline="0" dirty="0" smtClean="0"/>
              <a:t>(центрирование):</a:t>
            </a:r>
          </a:p>
          <a:p>
            <a:pPr lvl="1"/>
            <a:r>
              <a:rPr lang="en-US" baseline="0" dirty="0" smtClean="0"/>
              <a:t>&lt;p align=“center”&gt;</a:t>
            </a:r>
          </a:p>
          <a:p>
            <a:pPr lvl="1"/>
            <a:r>
              <a:rPr lang="en-US" baseline="0" dirty="0" smtClean="0"/>
              <a:t>&lt;</a:t>
            </a:r>
            <a:r>
              <a:rPr lang="en-US" baseline="0" dirty="0" err="1" smtClean="0"/>
              <a:t>img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src</a:t>
            </a:r>
            <a:r>
              <a:rPr lang="en-US" baseline="0" dirty="0" smtClean="0"/>
              <a:t>=“123.jgp”&gt;</a:t>
            </a:r>
          </a:p>
          <a:p>
            <a:pPr lvl="1"/>
            <a:r>
              <a:rPr lang="en-US" baseline="0" dirty="0" smtClean="0"/>
              <a:t>&lt;/p&gt;</a:t>
            </a:r>
          </a:p>
          <a:p>
            <a:r>
              <a:rPr lang="ru-RU" baseline="0" dirty="0" smtClean="0"/>
              <a:t>Или</a:t>
            </a:r>
          </a:p>
          <a:p>
            <a:pPr lvl="1"/>
            <a:r>
              <a:rPr lang="en-US" baseline="0" dirty="0" smtClean="0"/>
              <a:t>&lt;center&gt;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&lt;</a:t>
            </a:r>
            <a:r>
              <a:rPr lang="en-US" baseline="0" dirty="0" err="1" smtClean="0"/>
              <a:t>img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src</a:t>
            </a:r>
            <a:r>
              <a:rPr lang="en-US" baseline="0" dirty="0" smtClean="0"/>
              <a:t>=“123.jgp”&gt;</a:t>
            </a:r>
          </a:p>
          <a:p>
            <a:pPr lvl="1"/>
            <a:r>
              <a:rPr lang="en-US" dirty="0" smtClean="0"/>
              <a:t>&lt;/center&gt;</a:t>
            </a:r>
          </a:p>
          <a:p>
            <a:pPr lvl="1"/>
            <a:r>
              <a:rPr lang="ru-RU" baseline="0" dirty="0" smtClean="0"/>
              <a:t>Значения атрибутов </a:t>
            </a:r>
            <a:r>
              <a:rPr lang="en-US" baseline="0" dirty="0" err="1" smtClean="0"/>
              <a:t>hspace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vspace</a:t>
            </a:r>
            <a:r>
              <a:rPr lang="ru-RU" baseline="0" dirty="0" smtClean="0"/>
              <a:t> задаются в пикселях.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Гипертекст</a:t>
            </a:r>
            <a:r>
              <a:rPr lang="ru-RU" b="1" baseline="0" dirty="0" smtClean="0"/>
              <a:t> – это форма организации текста, которая позволяет создавать связи между различными частями одного текстового документа и / или с частями других текстовых документов, связывая текстовые фрагменты нелинейным образом.</a:t>
            </a:r>
          </a:p>
          <a:p>
            <a:r>
              <a:rPr lang="ru-RU" baseline="0" dirty="0" smtClean="0"/>
              <a:t>Для создания гипертекстовых документов в языке </a:t>
            </a:r>
            <a:r>
              <a:rPr lang="en-US" baseline="0" dirty="0" smtClean="0"/>
              <a:t>HTML</a:t>
            </a:r>
            <a:r>
              <a:rPr lang="ru-RU" baseline="0" dirty="0" smtClean="0"/>
              <a:t> используются ссылки (или гиперссылки). Ссылки связывают один ресурс </a:t>
            </a:r>
            <a:r>
              <a:rPr lang="en-US" baseline="0" dirty="0" smtClean="0"/>
              <a:t>Web </a:t>
            </a:r>
            <a:r>
              <a:rPr lang="ru-RU" baseline="0" dirty="0" smtClean="0"/>
              <a:t> с другим. Гипессылка создает в документе область, которая осуществляет переход по ссылке, если гиперссылка будет активизирована пользователем.</a:t>
            </a:r>
            <a:endParaRPr lang="en-US" baseline="0" dirty="0" smtClean="0"/>
          </a:p>
          <a:p>
            <a:r>
              <a:rPr lang="ru-RU" baseline="0" dirty="0" smtClean="0"/>
              <a:t>Для ссылок на другие документы или ресурсы в языке </a:t>
            </a:r>
            <a:r>
              <a:rPr lang="en-US" baseline="0" dirty="0" smtClean="0"/>
              <a:t>HTML</a:t>
            </a:r>
            <a:r>
              <a:rPr lang="ru-RU" baseline="0" dirty="0" smtClean="0"/>
              <a:t> используются унифицированный указатель ресурсов </a:t>
            </a:r>
            <a:r>
              <a:rPr lang="en-US" baseline="0" dirty="0" smtClean="0"/>
              <a:t>URI.</a:t>
            </a:r>
          </a:p>
          <a:p>
            <a:r>
              <a:rPr lang="ru-RU" baseline="0" dirty="0" smtClean="0"/>
              <a:t>Управление цветом: </a:t>
            </a:r>
          </a:p>
          <a:p>
            <a:pPr>
              <a:buFontTx/>
              <a:buChar char="-"/>
            </a:pPr>
            <a:r>
              <a:rPr lang="en-US" baseline="0" dirty="0" smtClean="0"/>
              <a:t>Link </a:t>
            </a:r>
            <a:r>
              <a:rPr lang="ru-RU" baseline="0" dirty="0" smtClean="0"/>
              <a:t>определяет цвет всех непосещенных ссылок</a:t>
            </a:r>
          </a:p>
          <a:p>
            <a:pPr>
              <a:buFontTx/>
              <a:buChar char="-"/>
            </a:pPr>
            <a:r>
              <a:rPr lang="ru-RU" baseline="0" dirty="0" smtClean="0"/>
              <a:t> </a:t>
            </a:r>
            <a:r>
              <a:rPr lang="en-US" baseline="0" dirty="0" err="1" smtClean="0"/>
              <a:t>vlink</a:t>
            </a:r>
            <a:r>
              <a:rPr lang="en-US" baseline="0" dirty="0" smtClean="0"/>
              <a:t> </a:t>
            </a:r>
            <a:r>
              <a:rPr lang="ru-RU" baseline="0" dirty="0" smtClean="0"/>
              <a:t>устанавливает цвет посещенных ссылок</a:t>
            </a:r>
          </a:p>
          <a:p>
            <a:pPr>
              <a:buFontTx/>
              <a:buChar char="-"/>
            </a:pPr>
            <a:r>
              <a:rPr lang="ru-RU" baseline="0" dirty="0" smtClean="0"/>
              <a:t> </a:t>
            </a:r>
            <a:r>
              <a:rPr lang="en-US" baseline="0" dirty="0" err="1" smtClean="0"/>
              <a:t>alink</a:t>
            </a:r>
            <a:r>
              <a:rPr lang="en-US" baseline="0" dirty="0" smtClean="0"/>
              <a:t> </a:t>
            </a:r>
            <a:r>
              <a:rPr lang="ru-RU" baseline="0" dirty="0" smtClean="0"/>
              <a:t>назначает цвет активной гиперссылки (выбранной на данный момент)</a:t>
            </a:r>
            <a:endParaRPr lang="en-US" baseline="0" dirty="0" smtClean="0"/>
          </a:p>
          <a:p>
            <a:pPr>
              <a:buFontTx/>
              <a:buNone/>
            </a:pPr>
            <a:r>
              <a:rPr lang="ru-RU" baseline="0" dirty="0" smtClean="0"/>
              <a:t>Граница графической ссылки: атрибут </a:t>
            </a:r>
            <a:r>
              <a:rPr lang="en-US" baseline="0" dirty="0" smtClean="0"/>
              <a:t>border </a:t>
            </a:r>
            <a:r>
              <a:rPr lang="ru-RU" baseline="0" dirty="0" smtClean="0"/>
              <a:t>устанавливает толщину рамки вокруг изображения.</a:t>
            </a:r>
            <a:endParaRPr lang="en-US" baseline="0" dirty="0" smtClean="0"/>
          </a:p>
          <a:p>
            <a:pPr>
              <a:buFontTx/>
              <a:buNone/>
            </a:pPr>
            <a:r>
              <a:rPr lang="ru-RU" baseline="0" dirty="0" smtClean="0"/>
              <a:t>Гиперссылки в пределах документа: якорь определяет точку, к которой происходит переход по ссылке с помощью атрибута </a:t>
            </a:r>
            <a:r>
              <a:rPr lang="en-US" baseline="0" dirty="0" smtClean="0"/>
              <a:t>name</a:t>
            </a:r>
            <a:r>
              <a:rPr lang="ru-RU" baseline="0" dirty="0" smtClean="0"/>
              <a:t> элемента </a:t>
            </a:r>
            <a:r>
              <a:rPr lang="en-US" baseline="0" dirty="0" smtClean="0"/>
              <a:t>a.</a:t>
            </a:r>
            <a:endParaRPr lang="ru-RU" baseline="0" dirty="0" smtClean="0"/>
          </a:p>
          <a:p>
            <a:pPr>
              <a:buFontTx/>
              <a:buNone/>
            </a:pPr>
            <a:endParaRPr lang="ru-RU" baseline="0" dirty="0" smtClean="0"/>
          </a:p>
          <a:p>
            <a:pPr>
              <a:buFontTx/>
              <a:buNone/>
            </a:pPr>
            <a:r>
              <a:rPr lang="ru-RU" baseline="0" dirty="0" smtClean="0"/>
              <a:t>Карты ссылок позволяют создавать навигационные карты. Навигационные карты позволяют определять области изображения и назначать каждой области определенную гиперссылку. Когда область активизируется пользователем, выполняется переход по ссылке. Навигационные карты создаются с помощью элементов </a:t>
            </a:r>
            <a:r>
              <a:rPr lang="en-US" baseline="0" dirty="0" smtClean="0"/>
              <a:t>map &amp; area.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Таблицы</a:t>
            </a:r>
            <a:r>
              <a:rPr lang="ru-RU" baseline="0" dirty="0" smtClean="0"/>
              <a:t> состоят из трех основных частей: названия таблицы, заголовков столбцов и ячеек. Таблица заполняется горизонтальными рядами, ячейка за ячейкой, слева направо.</a:t>
            </a:r>
          </a:p>
          <a:p>
            <a:r>
              <a:rPr lang="ru-RU" b="1" baseline="0" dirty="0" smtClean="0"/>
              <a:t>Элемент </a:t>
            </a:r>
            <a:r>
              <a:rPr lang="en-US" b="1" baseline="0" dirty="0" smtClean="0"/>
              <a:t>table:</a:t>
            </a:r>
          </a:p>
          <a:p>
            <a:pPr>
              <a:buFontTx/>
              <a:buChar char="-"/>
            </a:pPr>
            <a:r>
              <a:rPr lang="ru-RU" baseline="0" dirty="0" smtClean="0"/>
              <a:t>Атрибут </a:t>
            </a:r>
            <a:r>
              <a:rPr lang="en-US" baseline="0" dirty="0" smtClean="0"/>
              <a:t>border </a:t>
            </a:r>
            <a:r>
              <a:rPr lang="ru-RU" baseline="0" dirty="0" smtClean="0"/>
              <a:t>определяет толщину внешних линий рамки таблицы в пикселяхю Если атрибут отсутствует или значение атрибута равно 0, то внешние и внутренние линии границы таблицы отсутствуют. Значение атрибута не влияет на толщину внутренних линий.</a:t>
            </a:r>
          </a:p>
          <a:p>
            <a:pPr>
              <a:buFontTx/>
              <a:buChar char="-"/>
            </a:pPr>
            <a:r>
              <a:rPr lang="ru-RU" baseline="0" dirty="0" smtClean="0"/>
              <a:t> Атрибут </a:t>
            </a:r>
            <a:r>
              <a:rPr lang="en-US" baseline="0" dirty="0" err="1" smtClean="0"/>
              <a:t>cellpadding</a:t>
            </a:r>
            <a:r>
              <a:rPr lang="en-US" baseline="0" dirty="0" smtClean="0"/>
              <a:t> </a:t>
            </a:r>
            <a:r>
              <a:rPr lang="ru-RU" baseline="0" dirty="0" smtClean="0"/>
              <a:t> определяет отступ от границ ячейки таблицы до данных, размещенных в ячейке (в пикселях).</a:t>
            </a:r>
          </a:p>
          <a:p>
            <a:pPr>
              <a:buFontTx/>
              <a:buChar char="-"/>
            </a:pPr>
            <a:r>
              <a:rPr lang="ru-RU" baseline="0" dirty="0" smtClean="0"/>
              <a:t> Атрибут </a:t>
            </a:r>
            <a:r>
              <a:rPr lang="en-US" baseline="0" dirty="0" err="1" smtClean="0"/>
              <a:t>cellspacing</a:t>
            </a:r>
            <a:r>
              <a:rPr lang="en-US" baseline="0" dirty="0" smtClean="0"/>
              <a:t> </a:t>
            </a:r>
            <a:r>
              <a:rPr lang="ru-RU" baseline="0" dirty="0" smtClean="0"/>
              <a:t>определяет ширину внутреннего пробела в пикселях между соседними ячейками таблицы.</a:t>
            </a:r>
          </a:p>
          <a:p>
            <a:pPr>
              <a:buFontTx/>
              <a:buChar char="-"/>
            </a:pPr>
            <a:r>
              <a:rPr lang="ru-RU" baseline="0" dirty="0" smtClean="0"/>
              <a:t> Атрибуты </a:t>
            </a:r>
            <a:r>
              <a:rPr lang="en-US" baseline="0" dirty="0" smtClean="0"/>
              <a:t>width</a:t>
            </a:r>
            <a:r>
              <a:rPr lang="ru-RU" baseline="0" dirty="0" smtClean="0"/>
              <a:t> </a:t>
            </a:r>
            <a:r>
              <a:rPr lang="en-US" baseline="0" dirty="0" smtClean="0"/>
              <a:t>&amp; height </a:t>
            </a:r>
            <a:r>
              <a:rPr lang="ru-RU" baseline="0" dirty="0" smtClean="0"/>
              <a:t>опредляют ширину и высоту таблицы. Значение задается в процентах от ширины страницы или в пикселях.</a:t>
            </a:r>
          </a:p>
          <a:p>
            <a:pPr>
              <a:buFontTx/>
              <a:buChar char="-"/>
            </a:pPr>
            <a:r>
              <a:rPr lang="ru-RU" baseline="0" dirty="0" smtClean="0"/>
              <a:t> Атрибут </a:t>
            </a:r>
            <a:r>
              <a:rPr lang="en-US" baseline="0" dirty="0" smtClean="0"/>
              <a:t>align </a:t>
            </a:r>
            <a:r>
              <a:rPr lang="ru-RU" baseline="0" dirty="0" smtClean="0"/>
              <a:t>принимает значения: </a:t>
            </a:r>
            <a:r>
              <a:rPr lang="en-US" baseline="0" dirty="0" smtClean="0"/>
              <a:t>left, right, center. </a:t>
            </a:r>
          </a:p>
          <a:p>
            <a:pPr>
              <a:buFontTx/>
              <a:buNone/>
            </a:pPr>
            <a:r>
              <a:rPr lang="ru-RU" b="1" baseline="0" dirty="0" smtClean="0"/>
              <a:t>Элемент </a:t>
            </a:r>
            <a:r>
              <a:rPr lang="en-US" b="1" baseline="0" dirty="0" err="1" smtClean="0"/>
              <a:t>tr</a:t>
            </a:r>
            <a:r>
              <a:rPr lang="en-US" b="1" baseline="0" dirty="0" smtClean="0"/>
              <a:t>:</a:t>
            </a:r>
          </a:p>
          <a:p>
            <a:pPr>
              <a:buFontTx/>
              <a:buChar char="-"/>
            </a:pPr>
            <a:r>
              <a:rPr lang="ru-RU" baseline="0" dirty="0" smtClean="0"/>
              <a:t>Атрибут </a:t>
            </a:r>
            <a:r>
              <a:rPr lang="en-US" baseline="0" dirty="0" smtClean="0"/>
              <a:t>align</a:t>
            </a:r>
            <a:r>
              <a:rPr lang="ru-RU" baseline="0" dirty="0" smtClean="0"/>
              <a:t> применяется для выравнивания содержимого ячеек строки по горизонтали. Атрибут может принимать следующие значения: </a:t>
            </a:r>
            <a:r>
              <a:rPr lang="en-US" baseline="0" dirty="0" smtClean="0"/>
              <a:t>left, right, center (middle).</a:t>
            </a:r>
          </a:p>
          <a:p>
            <a:pPr>
              <a:buFontTx/>
              <a:buChar char="-"/>
            </a:pPr>
            <a:r>
              <a:rPr lang="en-US" baseline="0" dirty="0" smtClean="0"/>
              <a:t> </a:t>
            </a:r>
            <a:r>
              <a:rPr lang="ru-RU" baseline="0" dirty="0" smtClean="0"/>
              <a:t>Атрибут </a:t>
            </a:r>
            <a:r>
              <a:rPr lang="en-US" baseline="0" dirty="0" smtClean="0"/>
              <a:t>valign </a:t>
            </a:r>
            <a:r>
              <a:rPr lang="ru-RU" baseline="0" dirty="0" smtClean="0"/>
              <a:t>применяется для выравнивания содержимого ячеек строки по вертикали. Атрибут может принимать следующие значения: </a:t>
            </a:r>
            <a:r>
              <a:rPr lang="en-US" baseline="0" dirty="0" smtClean="0"/>
              <a:t>top, center (middle), bottom</a:t>
            </a:r>
          </a:p>
          <a:p>
            <a:pPr>
              <a:buFontTx/>
              <a:buNone/>
            </a:pPr>
            <a:r>
              <a:rPr lang="ru-RU" b="1" baseline="0" dirty="0" smtClean="0"/>
              <a:t>Элемент </a:t>
            </a:r>
            <a:r>
              <a:rPr lang="en-US" b="1" baseline="0" dirty="0" smtClean="0"/>
              <a:t>td:</a:t>
            </a:r>
          </a:p>
          <a:p>
            <a:pPr>
              <a:buFontTx/>
              <a:buChar char="-"/>
            </a:pPr>
            <a:r>
              <a:rPr lang="en-US" baseline="0" dirty="0" smtClean="0"/>
              <a:t> </a:t>
            </a:r>
            <a:r>
              <a:rPr lang="ru-RU" baseline="0" dirty="0" smtClean="0"/>
              <a:t>Атрибут </a:t>
            </a:r>
            <a:r>
              <a:rPr lang="en-US" baseline="0" dirty="0" smtClean="0"/>
              <a:t>align</a:t>
            </a:r>
            <a:r>
              <a:rPr lang="ru-RU" baseline="0" dirty="0" smtClean="0"/>
              <a:t> применяется для выравнивания содержимого ячейки по горизонтали. Атрибут может принимать следующие значения: </a:t>
            </a:r>
            <a:r>
              <a:rPr lang="en-US" baseline="0" dirty="0" smtClean="0"/>
              <a:t>left, right, center (middle).</a:t>
            </a:r>
          </a:p>
          <a:p>
            <a:pPr>
              <a:buFontTx/>
              <a:buChar char="-"/>
            </a:pPr>
            <a:r>
              <a:rPr lang="en-US" baseline="0" dirty="0" smtClean="0"/>
              <a:t> </a:t>
            </a:r>
            <a:r>
              <a:rPr lang="ru-RU" baseline="0" dirty="0" smtClean="0"/>
              <a:t>Атрибут </a:t>
            </a:r>
            <a:r>
              <a:rPr lang="en-US" baseline="0" dirty="0" smtClean="0"/>
              <a:t>valign </a:t>
            </a:r>
            <a:r>
              <a:rPr lang="ru-RU" baseline="0" dirty="0" smtClean="0"/>
              <a:t>применяется для выравнивания содержимого ячейки по вертикали. Атрибут может принимать следующие значения: </a:t>
            </a:r>
            <a:r>
              <a:rPr lang="en-US" baseline="0" dirty="0" smtClean="0"/>
              <a:t>top, center (middle), bottom</a:t>
            </a:r>
            <a:endParaRPr lang="ru-RU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ru-RU" baseline="0" dirty="0" smtClean="0"/>
              <a:t> Атрибуты </a:t>
            </a:r>
            <a:r>
              <a:rPr lang="en-US" baseline="0" dirty="0" smtClean="0"/>
              <a:t>width</a:t>
            </a:r>
            <a:r>
              <a:rPr lang="ru-RU" baseline="0" dirty="0" smtClean="0"/>
              <a:t> </a:t>
            </a:r>
            <a:r>
              <a:rPr lang="en-US" baseline="0" dirty="0" smtClean="0"/>
              <a:t>&amp; height </a:t>
            </a:r>
            <a:r>
              <a:rPr lang="ru-RU" baseline="0" dirty="0" smtClean="0"/>
              <a:t>опредляют ширину и высоту ячейки. Значение задается в процентах от ширины (высоты) таблицы или в пикселях.</a:t>
            </a:r>
          </a:p>
          <a:p>
            <a:pPr>
              <a:buFontTx/>
              <a:buNone/>
            </a:pPr>
            <a:r>
              <a:rPr lang="ru-RU" b="0" baseline="0" dirty="0" smtClean="0"/>
              <a:t>Изменение ширины (высоты) отдельной ячейки приводит к изменению ширины (высоты) всех ячеек столбца (строки). </a:t>
            </a:r>
          </a:p>
          <a:p>
            <a:pPr>
              <a:buFontTx/>
              <a:buChar char="-"/>
            </a:pPr>
            <a:r>
              <a:rPr lang="ru-RU" b="0" baseline="0" dirty="0" smtClean="0"/>
              <a:t>Атрибут </a:t>
            </a:r>
            <a:r>
              <a:rPr lang="en-US" b="0" baseline="0" dirty="0" smtClean="0"/>
              <a:t>colspan </a:t>
            </a:r>
            <a:r>
              <a:rPr lang="ru-RU" b="0" baseline="0" dirty="0" smtClean="0"/>
              <a:t>предназначен для объединения нескольких смежных ячеек строки в одну ячейку.</a:t>
            </a:r>
          </a:p>
          <a:p>
            <a:pPr>
              <a:buFontTx/>
              <a:buChar char="-"/>
            </a:pPr>
            <a:r>
              <a:rPr lang="ru-RU" b="0" baseline="0" dirty="0" smtClean="0"/>
              <a:t> Атрибут </a:t>
            </a:r>
            <a:r>
              <a:rPr lang="en-US" b="0" baseline="0" dirty="0" err="1" smtClean="0"/>
              <a:t>rowspan</a:t>
            </a:r>
            <a:r>
              <a:rPr lang="en-US" b="0" baseline="0" dirty="0" smtClean="0"/>
              <a:t> </a:t>
            </a:r>
            <a:r>
              <a:rPr lang="ru-RU" b="0" baseline="0" dirty="0" smtClean="0"/>
              <a:t>предназначен для объединения нескольких смежных ячеек столбца в одну ячейку.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Возможности HTML и CSS позволяют создавать гипертекстовые страницы как с линейной, так и с нелинейной структурой. Линейные структуры (где текст отображается последовательно, элемент за элементом) сейчас используются не часто.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Больше возможностей по дизайну представляют макеты веб-страниц с нелинейной структурой, которые создаются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</a:t>
            </a:r>
            <a:r>
              <a:rPr lang="ru-RU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использованием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фреймов.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табличной верстки.</a:t>
            </a:r>
          </a:p>
          <a:p>
            <a:r>
              <a:rPr lang="en-US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ru-RU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блочных 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элементов.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baseline="0" dirty="0" smtClean="0"/>
              <a:t>Фреймовый документ – это </a:t>
            </a:r>
            <a:r>
              <a:rPr lang="en-US" baseline="0" dirty="0" smtClean="0"/>
              <a:t>HTML</a:t>
            </a:r>
            <a:r>
              <a:rPr lang="ru-RU" baseline="0" dirty="0" smtClean="0"/>
              <a:t>-документ, содержащий специальные теги, которые сообщают браузеру, как следует разделить окно браузера на отдельные фреймы и какие документы нужно в них разместить. </a:t>
            </a:r>
            <a:r>
              <a:rPr lang="ru-RU" baseline="0" smtClean="0"/>
              <a:t>Б</a:t>
            </a:r>
            <a:r>
              <a:rPr lang="ru-RU" sz="12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раузер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распознающий 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фреймы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загружает разные страницы в разные секции, или 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фреймы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экрана.</a:t>
            </a:r>
            <a:endParaRPr lang="ru-RU" dirty="0" smtClean="0"/>
          </a:p>
          <a:p>
            <a:r>
              <a:rPr lang="ru-RU" dirty="0" smtClean="0"/>
              <a:t>Фреймы</a:t>
            </a:r>
            <a:r>
              <a:rPr lang="ru-RU" baseline="0" dirty="0" smtClean="0"/>
              <a:t> – это средство языка </a:t>
            </a:r>
            <a:r>
              <a:rPr lang="en-US" baseline="0" dirty="0" smtClean="0"/>
              <a:t>HTML</a:t>
            </a:r>
            <a:r>
              <a:rPr lang="ru-RU" baseline="0" dirty="0" smtClean="0"/>
              <a:t>, позволяющее вывести в окне браузера несколько документов </a:t>
            </a:r>
            <a:r>
              <a:rPr lang="en-US" baseline="0" dirty="0" smtClean="0"/>
              <a:t>HTML. </a:t>
            </a:r>
            <a:r>
              <a:rPr lang="ru-RU" baseline="0" dirty="0" smtClean="0"/>
              <a:t>Окно браузера делится на несколько областей. Эти области называются фреймами. В каждом фрейме отображается свой документ. Фреймы создаются специальным документом – фреймсетом (набор фреймов). Содержимое фреймсета не отображается.</a:t>
            </a:r>
            <a:r>
              <a:rPr lang="en-US" baseline="0" dirty="0" smtClean="0"/>
              <a:t> </a:t>
            </a:r>
          </a:p>
          <a:p>
            <a:r>
              <a:rPr lang="ru-RU" baseline="0" dirty="0" smtClean="0"/>
              <a:t>После формирования раскладки фремов с помощью элемента </a:t>
            </a:r>
            <a:r>
              <a:rPr lang="en-US" baseline="0" dirty="0" smtClean="0"/>
              <a:t>frame</a:t>
            </a:r>
            <a:r>
              <a:rPr lang="ru-RU" baseline="0" dirty="0" smtClean="0"/>
              <a:t> определяются исходные файлы для каждого из фреймов. Элемент </a:t>
            </a:r>
            <a:r>
              <a:rPr lang="en-US" baseline="0" dirty="0" smtClean="0"/>
              <a:t>frame </a:t>
            </a:r>
            <a:r>
              <a:rPr lang="ru-RU" baseline="0" dirty="0" smtClean="0"/>
              <a:t>содержит адрес документа, который выводится во фрейм.</a:t>
            </a:r>
          </a:p>
          <a:p>
            <a:r>
              <a:rPr lang="ru-RU" baseline="0" dirty="0" smtClean="0"/>
              <a:t>Атрибут </a:t>
            </a:r>
            <a:r>
              <a:rPr lang="en-US" baseline="0" dirty="0" smtClean="0"/>
              <a:t>scrolling </a:t>
            </a:r>
            <a:r>
              <a:rPr lang="ru-RU" baseline="0" dirty="0" smtClean="0"/>
              <a:t>элемента </a:t>
            </a:r>
            <a:r>
              <a:rPr lang="en-US" baseline="0" dirty="0" smtClean="0"/>
              <a:t>frame </a:t>
            </a:r>
            <a:r>
              <a:rPr lang="ru-RU" baseline="0" dirty="0" smtClean="0"/>
              <a:t>контролирует наличие полос прокрутки. Значение </a:t>
            </a:r>
            <a:r>
              <a:rPr lang="en-US" baseline="0" dirty="0" smtClean="0"/>
              <a:t>yes </a:t>
            </a:r>
            <a:r>
              <a:rPr lang="ru-RU" baseline="0" dirty="0" smtClean="0"/>
              <a:t>устанавливает полосу во фрейме, значение </a:t>
            </a:r>
            <a:r>
              <a:rPr lang="en-US" baseline="0" dirty="0" smtClean="0"/>
              <a:t>no </a:t>
            </a:r>
            <a:r>
              <a:rPr lang="ru-RU" baseline="0" dirty="0" smtClean="0"/>
              <a:t>– запрещает ее. Значением </a:t>
            </a:r>
            <a:r>
              <a:rPr lang="en-US" baseline="0" dirty="0" smtClean="0"/>
              <a:t>auto </a:t>
            </a:r>
            <a:r>
              <a:rPr lang="ru-RU" baseline="0" dirty="0" smtClean="0"/>
              <a:t> управление полосой прокрутки передается браузеру, который размещает ее во фрейме при необходимости.</a:t>
            </a:r>
            <a:endParaRPr lang="en-US" baseline="0" dirty="0" smtClean="0"/>
          </a:p>
          <a:p>
            <a:r>
              <a:rPr lang="ru-RU" baseline="0" dirty="0" smtClean="0"/>
              <a:t>Атрибут </a:t>
            </a:r>
            <a:r>
              <a:rPr lang="en-US" baseline="0" dirty="0" smtClean="0"/>
              <a:t>name </a:t>
            </a:r>
            <a:r>
              <a:rPr lang="ru-RU" baseline="0" dirty="0" smtClean="0"/>
              <a:t>элемена </a:t>
            </a:r>
            <a:r>
              <a:rPr lang="en-US" baseline="0" dirty="0" smtClean="0"/>
              <a:t>frame </a:t>
            </a:r>
            <a:r>
              <a:rPr lang="ru-RU" baseline="0" dirty="0" smtClean="0"/>
              <a:t>позволяет именовать фреймы для организации связей между </a:t>
            </a:r>
            <a:r>
              <a:rPr lang="en-US" baseline="0" dirty="0" smtClean="0"/>
              <a:t>web-</a:t>
            </a:r>
            <a:r>
              <a:rPr lang="ru-RU" baseline="0" dirty="0" smtClean="0"/>
              <a:t>страницами.</a:t>
            </a:r>
          </a:p>
          <a:p>
            <a:r>
              <a:rPr lang="ru-RU" baseline="0" dirty="0" smtClean="0"/>
              <a:t>Фрейм, снабженный именем, может служить окном для отображения документа, на который указывает гиперссылка в документе, отображенном в другом фрейме. Такая возможность предоставляется с помощью атрибута </a:t>
            </a:r>
            <a:r>
              <a:rPr lang="en-US" baseline="0" dirty="0" smtClean="0"/>
              <a:t>target</a:t>
            </a:r>
            <a:r>
              <a:rPr lang="ru-RU" baseline="0" dirty="0" smtClean="0"/>
              <a:t> элемента </a:t>
            </a:r>
            <a:r>
              <a:rPr lang="en-US" baseline="0" dirty="0" smtClean="0"/>
              <a:t>a (</a:t>
            </a:r>
            <a:r>
              <a:rPr lang="ru-RU" baseline="0" dirty="0" smtClean="0"/>
              <a:t>гиперссылка). Если включить в элемент </a:t>
            </a:r>
            <a:r>
              <a:rPr lang="en-US" baseline="0" dirty="0" smtClean="0"/>
              <a:t>a </a:t>
            </a:r>
            <a:r>
              <a:rPr lang="ru-RU" baseline="0" dirty="0" smtClean="0"/>
              <a:t>атрибут </a:t>
            </a:r>
            <a:r>
              <a:rPr lang="en-US" baseline="0" dirty="0" smtClean="0"/>
              <a:t>target</a:t>
            </a:r>
            <a:r>
              <a:rPr lang="ru-RU" baseline="0" dirty="0" smtClean="0"/>
              <a:t>, браузер загрузит и отобразит документ, указанный в атрибуте </a:t>
            </a:r>
            <a:r>
              <a:rPr lang="en-US" baseline="0" dirty="0" err="1" smtClean="0"/>
              <a:t>href</a:t>
            </a:r>
            <a:r>
              <a:rPr lang="ru-RU" baseline="0" dirty="0" smtClean="0"/>
              <a:t>, во фрейм или окно с именем, указанным в атрибуте </a:t>
            </a:r>
            <a:r>
              <a:rPr lang="en-US" baseline="0" dirty="0" smtClean="0"/>
              <a:t>target. </a:t>
            </a:r>
            <a:r>
              <a:rPr lang="ru-RU" baseline="0" dirty="0" smtClean="0"/>
              <a:t>Если не существует фрейма с таким именем, браузер откроет новое окно, присвоит ему указанное имя и загрузин новый документ в это окно.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6CA395-0D7C-4801-9F8F-B11E2D7ADCE2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24000"/>
            <a:ext cx="7772400" cy="1470025"/>
          </a:xfrm>
        </p:spPr>
        <p:txBody>
          <a:bodyPr>
            <a:normAutofit/>
          </a:bodyPr>
          <a:lstStyle>
            <a:lvl1pPr algn="r">
              <a:defRPr sz="3600" b="1">
                <a:solidFill>
                  <a:schemeClr val="tx2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3528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28800" y="6096000"/>
            <a:ext cx="2514600" cy="685800"/>
          </a:xfrm>
        </p:spPr>
        <p:txBody>
          <a:bodyPr/>
          <a:lstStyle>
            <a:lvl1pPr>
              <a:defRPr sz="1200" b="1">
                <a:solidFill>
                  <a:srgbClr val="161DAA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166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6328288"/>
            <a:ext cx="4410534" cy="52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/>
          <a:lstStyle>
            <a:lvl1pPr algn="r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059363"/>
          </a:xfrm>
        </p:spPr>
        <p:txBody>
          <a:bodyPr/>
          <a:lstStyle>
            <a:lvl1pPr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64166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438400" cy="685800"/>
          </a:xfrm>
        </p:spPr>
        <p:txBody>
          <a:bodyPr/>
          <a:lstStyle>
            <a:lvl1pPr>
              <a:defRPr sz="1200" b="1">
                <a:gradFill flip="none" rotWithShape="1">
                  <a:gsLst>
                    <a:gs pos="50000">
                      <a:srgbClr val="161DAA">
                        <a:alpha val="65000"/>
                      </a:srgb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0" scaled="1"/>
                  <a:tileRect/>
                </a:gra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endParaRPr lang="en-US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6172200"/>
            <a:ext cx="4149090" cy="508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8763000" cy="505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7400" y="63404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2800" b="1" kern="1200">
          <a:solidFill>
            <a:schemeClr val="tx2">
              <a:lumMod val="50000"/>
            </a:schemeClr>
          </a:solidFill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2">
              <a:lumMod val="50000"/>
            </a:schemeClr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community/webed/wiki/HTML/Specification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Основы </a:t>
            </a:r>
            <a:r>
              <a:rPr lang="en-US" dirty="0" smtClean="0"/>
              <a:t>Web-</a:t>
            </a:r>
            <a:r>
              <a:rPr lang="ru-RU" dirty="0" smtClean="0"/>
              <a:t>дизайна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886200"/>
            <a:ext cx="6400800" cy="1752600"/>
          </a:xfrm>
        </p:spPr>
        <p:txBody>
          <a:bodyPr/>
          <a:lstStyle/>
          <a:p>
            <a:r>
              <a:rPr lang="ru-RU" b="1" dirty="0" smtClean="0">
                <a:solidFill>
                  <a:schemeClr val="tx2">
                    <a:lumMod val="50000"/>
                  </a:schemeClr>
                </a:solidFill>
              </a:rPr>
              <a:t>Тема 2: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HTML</a:t>
            </a:r>
            <a:endParaRPr lang="ru-RU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(Hyper Text Markup Language)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ru-RU" dirty="0" smtClean="0"/>
              <a:t>язык разметки гипертекста, предназначенный для создания </a:t>
            </a:r>
            <a:r>
              <a:rPr lang="en-US" dirty="0" smtClean="0"/>
              <a:t>web</a:t>
            </a:r>
            <a:r>
              <a:rPr lang="ru-RU" dirty="0" smtClean="0"/>
              <a:t>-страниц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не является языком программирования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правила оформления + набор структурных и семантических элементов разметки (</a:t>
            </a:r>
            <a:r>
              <a:rPr lang="ru-RU" i="1" dirty="0" smtClean="0"/>
              <a:t>тегов</a:t>
            </a:r>
            <a:r>
              <a:rPr lang="ru-RU" dirty="0" smtClean="0"/>
              <a:t>)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спецификации языка разрабатываются и утверждаются консорциумом </a:t>
            </a:r>
            <a:r>
              <a:rPr lang="en-US" dirty="0" smtClean="0"/>
              <a:t>W3C (World Wide Web Consortium)</a:t>
            </a:r>
          </a:p>
          <a:p>
            <a:pPr>
              <a:spcAft>
                <a:spcPts val="600"/>
              </a:spcAft>
            </a:pPr>
            <a:r>
              <a:rPr lang="en-US" dirty="0" smtClean="0"/>
              <a:t>HTML 2.0</a:t>
            </a:r>
            <a:r>
              <a:rPr lang="ru-RU" dirty="0" smtClean="0"/>
              <a:t> </a:t>
            </a:r>
            <a:r>
              <a:rPr lang="en-US" dirty="0" smtClean="0"/>
              <a:t>   </a:t>
            </a:r>
            <a:r>
              <a:rPr lang="ru-RU" dirty="0" smtClean="0"/>
              <a:t>(22 </a:t>
            </a:r>
            <a:r>
              <a:rPr lang="en-US" dirty="0" smtClean="0"/>
              <a:t>Sept </a:t>
            </a:r>
            <a:r>
              <a:rPr lang="ru-RU" dirty="0" smtClean="0"/>
              <a:t>1995)</a:t>
            </a:r>
            <a:r>
              <a:rPr lang="en-US" dirty="0" smtClean="0"/>
              <a:t> –</a:t>
            </a:r>
            <a:r>
              <a:rPr lang="ru-RU" dirty="0" smtClean="0"/>
              <a:t> официальный стандарт </a:t>
            </a:r>
            <a:r>
              <a:rPr lang="en-US" dirty="0" smtClean="0"/>
              <a:t>RFC 1866 </a:t>
            </a:r>
            <a:endParaRPr lang="ru-RU" dirty="0" smtClean="0"/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>	</a:t>
            </a:r>
            <a:r>
              <a:rPr lang="en-US" dirty="0" smtClean="0"/>
              <a:t>HTML 4.01  (24 Dec 1999)</a:t>
            </a:r>
          </a:p>
          <a:p>
            <a:pPr>
              <a:spcAft>
                <a:spcPts val="600"/>
              </a:spcAft>
              <a:buNone/>
            </a:pPr>
            <a:r>
              <a:rPr lang="en-US" dirty="0" smtClean="0"/>
              <a:t>	XHTML 1.1  (31 May 2001) – 	</a:t>
            </a:r>
            <a:r>
              <a:rPr lang="ru-RU" dirty="0" smtClean="0"/>
              <a:t>переход от </a:t>
            </a:r>
            <a:r>
              <a:rPr lang="en-US" dirty="0" smtClean="0"/>
              <a:t>HTML 4 </a:t>
            </a:r>
            <a:r>
              <a:rPr lang="ru-RU" dirty="0" smtClean="0"/>
              <a:t>к </a:t>
            </a:r>
            <a:r>
              <a:rPr lang="en-US" dirty="0" smtClean="0"/>
              <a:t>XHTML &amp; XML </a:t>
            </a:r>
          </a:p>
          <a:p>
            <a:pPr>
              <a:spcAft>
                <a:spcPts val="600"/>
              </a:spcAft>
              <a:buNone/>
            </a:pPr>
            <a:r>
              <a:rPr lang="en-US" dirty="0" smtClean="0"/>
              <a:t>	HTML 5 (work in progress) – future of HTML and XHTML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76200" y="5334000"/>
            <a:ext cx="7086600" cy="1143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ounded Rectangle 5"/>
          <p:cNvSpPr/>
          <p:nvPr/>
        </p:nvSpPr>
        <p:spPr>
          <a:xfrm>
            <a:off x="76200" y="3505200"/>
            <a:ext cx="7086600" cy="1676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dirty="0" smtClean="0"/>
              <a:t>1. Элементы гипертекста</a:t>
            </a:r>
            <a:br>
              <a:rPr lang="ru-RU" sz="3100" dirty="0" smtClean="0"/>
            </a:br>
            <a:r>
              <a:rPr lang="ru-RU" sz="2700" dirty="0" smtClean="0"/>
              <a:t>Структура </a:t>
            </a:r>
            <a:r>
              <a:rPr lang="en-US" sz="2700" dirty="0" smtClean="0"/>
              <a:t>HTML </a:t>
            </a:r>
            <a:r>
              <a:rPr lang="ru-RU" sz="2700" dirty="0" smtClean="0"/>
              <a:t>документа</a:t>
            </a:r>
            <a:endParaRPr lang="ru-RU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2362200"/>
            <a:ext cx="75438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&lt;!DOCTYPE </a:t>
            </a:r>
            <a:r>
              <a:rPr lang="en-US" dirty="0" smtClean="0"/>
              <a:t>HTML PUBLIC</a:t>
            </a:r>
          </a:p>
          <a:p>
            <a:r>
              <a:rPr lang="en-US" dirty="0" smtClean="0"/>
              <a:t>	 "-//W3C//DTD HTML 4.01//EN" 	"http://www.w3.org/TR/html4/strict.dtd"&gt;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&lt;html&gt;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&lt;head&gt;</a:t>
            </a:r>
          </a:p>
          <a:p>
            <a:r>
              <a:rPr lang="en-US" dirty="0" smtClean="0"/>
              <a:t> &lt;meta name=“author” content=“</a:t>
            </a:r>
            <a:r>
              <a:rPr lang="en-US" dirty="0" err="1" smtClean="0"/>
              <a:t>Poletaeva</a:t>
            </a:r>
            <a:r>
              <a:rPr lang="en-US" dirty="0" smtClean="0"/>
              <a:t>”&gt;</a:t>
            </a:r>
          </a:p>
          <a:p>
            <a:r>
              <a:rPr lang="en-US" dirty="0" smtClean="0"/>
              <a:t> &lt;meta name=“date” content=“31-01-14”&gt;</a:t>
            </a:r>
          </a:p>
          <a:p>
            <a:r>
              <a:rPr lang="en-US" dirty="0" smtClean="0"/>
              <a:t> &lt;meta http-equiv=“content-type” content=“text/html; </a:t>
            </a:r>
            <a:r>
              <a:rPr lang="en-US" dirty="0" err="1" smtClean="0"/>
              <a:t>charset</a:t>
            </a:r>
            <a:r>
              <a:rPr lang="en-US" dirty="0" smtClean="0"/>
              <a:t>=UTF-8”&gt;</a:t>
            </a:r>
          </a:p>
          <a:p>
            <a:r>
              <a:rPr lang="en-US" dirty="0" smtClean="0"/>
              <a:t> &lt;title&gt; </a:t>
            </a:r>
            <a:r>
              <a:rPr lang="en-US" dirty="0" err="1" smtClean="0"/>
              <a:t>ip-bo</a:t>
            </a:r>
            <a:r>
              <a:rPr lang="en-US" dirty="0" smtClean="0"/>
              <a:t> &lt;/title&gt;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 &lt;/head&gt;</a:t>
            </a:r>
          </a:p>
          <a:p>
            <a:endParaRPr lang="en-US" sz="1400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&lt;body&gt;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 &lt;/body&gt;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&lt;/html&gt;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990600"/>
            <a:ext cx="9144000" cy="1308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ru-RU" sz="2000" b="1" dirty="0" smtClean="0"/>
              <a:t>   </a:t>
            </a:r>
            <a:r>
              <a:rPr lang="ru-RU" sz="2000" b="1" u="sng" dirty="0" smtClean="0"/>
              <a:t>Элемент информации </a:t>
            </a:r>
            <a:r>
              <a:rPr lang="en-US" sz="2000" b="1" u="sng" dirty="0" smtClean="0"/>
              <a:t>HTML</a:t>
            </a:r>
            <a:r>
              <a:rPr lang="ru-RU" sz="2000" b="1" u="sng" dirty="0" smtClean="0"/>
              <a:t>-страницы: </a:t>
            </a:r>
          </a:p>
          <a:p>
            <a:pPr algn="r"/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имя_тега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атрибуты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значение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”]&gt;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 содержимое_элемента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имя_тега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r"/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algn="r"/>
            <a:r>
              <a:rPr lang="ru-RU" b="1" dirty="0" smtClean="0">
                <a:latin typeface="Courier New" pitchFamily="49" charset="0"/>
                <a:cs typeface="Courier New" pitchFamily="49" charset="0"/>
              </a:rPr>
              <a:t>&lt;тег [атрибут="значение" [атрибут="значение" [...]]] /&gt;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3200" y="2495490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Index.html (.</a:t>
            </a:r>
            <a:r>
              <a:rPr lang="en-US" sz="2000" b="1" dirty="0" err="1" smtClean="0">
                <a:solidFill>
                  <a:schemeClr val="tx2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htm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endParaRPr lang="ru-RU" sz="2000" b="1" dirty="0">
              <a:solidFill>
                <a:schemeClr val="tx2">
                  <a:lumMod val="5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Мета-данные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&lt;meta http-equiv="Content-Type" content="text/html; </a:t>
            </a:r>
            <a:r>
              <a:rPr lang="en-US" sz="1600" dirty="0" err="1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charset</a:t>
            </a:r>
            <a:r>
              <a:rPr lang="en-US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=UTF-8"&gt;</a:t>
            </a:r>
            <a:endParaRPr lang="ru-RU" sz="1600" dirty="0" smtClean="0">
              <a:solidFill>
                <a:srgbClr val="0F13B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1800"/>
              </a:spcAft>
              <a:buNone/>
            </a:pPr>
            <a:r>
              <a:rPr lang="ru-RU" sz="1800" dirty="0" smtClean="0"/>
              <a:t>		</a:t>
            </a:r>
            <a:r>
              <a:rPr lang="ru-RU" sz="1600" dirty="0" smtClean="0"/>
              <a:t>- для определения типа, содержимого и кодировки веб-страницы</a:t>
            </a:r>
          </a:p>
          <a:p>
            <a:pPr>
              <a:buNone/>
            </a:pPr>
            <a:r>
              <a:rPr lang="pt-BR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&lt;meta http-equiv="Refresh" content="N; url=http://example.org/"&gt;</a:t>
            </a:r>
            <a:endParaRPr lang="ru-RU" sz="1600" dirty="0" smtClean="0">
              <a:solidFill>
                <a:srgbClr val="0F13B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1800"/>
              </a:spcAft>
              <a:buNone/>
            </a:pPr>
            <a:r>
              <a:rPr lang="ru-RU" sz="1600" dirty="0" smtClean="0"/>
              <a:t>		- перенаправление через </a:t>
            </a:r>
            <a:r>
              <a:rPr lang="en-US" sz="1600" dirty="0" smtClean="0"/>
              <a:t>N </a:t>
            </a:r>
            <a:r>
              <a:rPr lang="ru-RU" sz="1600" dirty="0" smtClean="0"/>
              <a:t>секунд  после открытия текущей страницы на 	указанный  адрес</a:t>
            </a:r>
          </a:p>
          <a:p>
            <a:pPr>
              <a:buNone/>
            </a:pPr>
            <a:r>
              <a:rPr lang="en-US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&lt;meta name="keywords" content="</a:t>
            </a:r>
            <a:r>
              <a:rPr lang="ru-RU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список, ключевых, слов"&gt;</a:t>
            </a:r>
          </a:p>
          <a:p>
            <a:pPr>
              <a:spcAft>
                <a:spcPts val="1800"/>
              </a:spcAft>
              <a:buNone/>
            </a:pPr>
            <a:r>
              <a:rPr lang="ru-RU" sz="1600" dirty="0" smtClean="0"/>
              <a:t>		- ключевые слова и их синонимы, присутствующие в документе</a:t>
            </a:r>
          </a:p>
          <a:p>
            <a:pPr>
              <a:buNone/>
            </a:pPr>
            <a:r>
              <a:rPr lang="ru-RU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&lt;meta name="description" content=«Краткое описание страницы"&gt;</a:t>
            </a:r>
          </a:p>
          <a:p>
            <a:pPr>
              <a:spcAft>
                <a:spcPts val="1800"/>
              </a:spcAft>
              <a:buNone/>
            </a:pPr>
            <a:r>
              <a:rPr lang="ru-RU" sz="1600" dirty="0" smtClean="0"/>
              <a:t>		- фраза, по которой пользователь определяет суть страницы. Вписанные 	выражения играют важную роль в рейтинге страницы. Ключевые фразы должны 	совпадать с основным текстом страницы</a:t>
            </a:r>
          </a:p>
          <a:p>
            <a:pPr>
              <a:buNone/>
            </a:pPr>
            <a:r>
              <a:rPr lang="en-US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&lt;meta name="robots" content="</a:t>
            </a:r>
            <a:r>
              <a:rPr lang="en-US" sz="1600" dirty="0" err="1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index,all</a:t>
            </a:r>
            <a:r>
              <a:rPr lang="en-US" sz="1600" dirty="0" smtClean="0">
                <a:solidFill>
                  <a:srgbClr val="0F13B1"/>
                </a:solidFill>
                <a:latin typeface="Courier New" pitchFamily="49" charset="0"/>
                <a:cs typeface="Courier New" pitchFamily="49" charset="0"/>
              </a:rPr>
              <a:t>"&gt;</a:t>
            </a:r>
            <a:endParaRPr lang="ru-RU" sz="1600" dirty="0" smtClean="0">
              <a:solidFill>
                <a:srgbClr val="0F13B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1800"/>
              </a:spcAft>
              <a:buNone/>
            </a:pPr>
            <a:r>
              <a:rPr lang="ru-RU" sz="1600" dirty="0" smtClean="0"/>
              <a:t>		- управление поисковым роботом, указание ему того, что страницу нужно </a:t>
            </a:r>
            <a:r>
              <a:rPr lang="en-US" sz="1600" dirty="0" smtClean="0"/>
              <a:t>	</a:t>
            </a:r>
            <a:r>
              <a:rPr lang="ru-RU" sz="1600" dirty="0" smtClean="0"/>
              <a:t>индексировать	или нет, если указано </a:t>
            </a:r>
            <a:r>
              <a:rPr lang="en-US" sz="1600" dirty="0" smtClean="0"/>
              <a:t>“</a:t>
            </a:r>
            <a:r>
              <a:rPr lang="en-US" sz="1600" dirty="0" err="1" smtClean="0"/>
              <a:t>noindex</a:t>
            </a:r>
            <a:r>
              <a:rPr lang="en-US" sz="1600" dirty="0" smtClean="0"/>
              <a:t>”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791200"/>
          </a:xfrm>
        </p:spPr>
        <p:txBody>
          <a:bodyPr>
            <a:normAutofit lnSpcReduction="10000"/>
          </a:bodyPr>
          <a:lstStyle/>
          <a:p>
            <a:pPr>
              <a:buNone/>
              <a:tabLst>
                <a:tab pos="1890713" algn="l"/>
              </a:tabLst>
            </a:pPr>
            <a:r>
              <a:rPr lang="ru-RU" sz="1800" dirty="0" smtClean="0"/>
              <a:t>&lt;</a:t>
            </a:r>
            <a:r>
              <a:rPr lang="en-US" sz="1800" dirty="0" smtClean="0"/>
              <a:t>title&gt;...&lt;/title&gt; </a:t>
            </a:r>
            <a:r>
              <a:rPr lang="ru-RU" sz="1800" dirty="0" smtClean="0"/>
              <a:t>	</a:t>
            </a:r>
            <a:r>
              <a:rPr lang="en-US" sz="1800" dirty="0" smtClean="0"/>
              <a:t>— </a:t>
            </a:r>
            <a:r>
              <a:rPr lang="ru-RU" sz="1800" dirty="0" smtClean="0"/>
              <a:t>название документа </a:t>
            </a:r>
          </a:p>
          <a:p>
            <a:pPr>
              <a:buNone/>
              <a:tabLst>
                <a:tab pos="1890713" algn="l"/>
              </a:tabLst>
            </a:pPr>
            <a:r>
              <a:rPr lang="ru-RU" sz="1800" dirty="0" smtClean="0"/>
              <a:t>&lt;</a:t>
            </a:r>
            <a:r>
              <a:rPr lang="en-US" sz="1800" dirty="0" smtClean="0"/>
              <a:t>div&gt;...&lt;/div&gt; </a:t>
            </a:r>
            <a:r>
              <a:rPr lang="ru-RU" sz="1800" dirty="0" smtClean="0"/>
              <a:t>	</a:t>
            </a:r>
            <a:r>
              <a:rPr lang="en-US" sz="1800" dirty="0" smtClean="0"/>
              <a:t>— </a:t>
            </a:r>
            <a:r>
              <a:rPr lang="ru-RU" sz="1800" dirty="0" smtClean="0"/>
              <a:t>контейнер общего назначения (структурный блок)</a:t>
            </a:r>
          </a:p>
          <a:p>
            <a:pPr>
              <a:buNone/>
            </a:pPr>
            <a:r>
              <a:rPr lang="en-US" sz="1800" dirty="0" smtClean="0"/>
              <a:t>&lt;p&gt;...&lt;/p&gt;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основной текст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smtClean="0"/>
              <a:t>a&gt;...&lt;/a&gt;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гиперссылка </a:t>
            </a:r>
          </a:p>
          <a:p>
            <a:pPr>
              <a:buNone/>
              <a:tabLst>
                <a:tab pos="2681288" algn="l"/>
              </a:tabLst>
            </a:pPr>
            <a:r>
              <a:rPr lang="en-US" sz="1800" dirty="0" smtClean="0"/>
              <a:t>     </a:t>
            </a:r>
            <a:r>
              <a:rPr lang="ru-RU" sz="1800" dirty="0" smtClean="0"/>
              <a:t>    &lt;</a:t>
            </a:r>
            <a:r>
              <a:rPr lang="en-US" sz="1800" dirty="0" err="1" smtClean="0"/>
              <a:t>ol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ol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нумерованный список </a:t>
            </a:r>
          </a:p>
          <a:p>
            <a:pPr>
              <a:buNone/>
              <a:tabLst>
                <a:tab pos="2681288" algn="l"/>
              </a:tabLst>
            </a:pPr>
            <a:r>
              <a:rPr lang="en-US" sz="1800" dirty="0" smtClean="0"/>
              <a:t>     </a:t>
            </a:r>
            <a:r>
              <a:rPr lang="ru-RU" sz="1800" dirty="0" smtClean="0"/>
              <a:t>    &lt;</a:t>
            </a:r>
            <a:r>
              <a:rPr lang="en-US" sz="1800" dirty="0" err="1" smtClean="0"/>
              <a:t>ul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ul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маркированный список </a:t>
            </a:r>
          </a:p>
          <a:p>
            <a:pPr>
              <a:buNone/>
              <a:tabLst>
                <a:tab pos="2681288" algn="l"/>
              </a:tabLst>
            </a:pPr>
            <a:r>
              <a:rPr lang="en-US" sz="1800" dirty="0" smtClean="0"/>
              <a:t> </a:t>
            </a:r>
            <a:r>
              <a:rPr lang="ru-RU" sz="1800" dirty="0" smtClean="0"/>
              <a:t>    </a:t>
            </a:r>
            <a:r>
              <a:rPr lang="en-US" sz="1800" dirty="0" smtClean="0"/>
              <a:t>    </a:t>
            </a:r>
            <a:r>
              <a:rPr lang="ru-RU" sz="1800" dirty="0" smtClean="0"/>
              <a:t>&lt;</a:t>
            </a:r>
            <a:r>
              <a:rPr lang="en-US" sz="1800" dirty="0" err="1" smtClean="0"/>
              <a:t>li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li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элемент списка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smtClean="0"/>
              <a:t>table&gt;...&lt;/table&gt; — </a:t>
            </a:r>
            <a:r>
              <a:rPr lang="ru-RU" sz="1800" dirty="0" smtClean="0"/>
              <a:t>контейнер таблицы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err="1" smtClean="0"/>
              <a:t>tr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tr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строка таблицы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smtClean="0"/>
              <a:t>td&gt;...&lt;/td&gt;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ячейка таблицы </a:t>
            </a:r>
          </a:p>
          <a:p>
            <a:pPr>
              <a:buNone/>
            </a:pPr>
            <a:r>
              <a:rPr lang="en-US" sz="1800" dirty="0" smtClean="0"/>
              <a:t>    </a:t>
            </a:r>
            <a:r>
              <a:rPr lang="ru-RU" sz="1800" dirty="0" smtClean="0"/>
              <a:t>    </a:t>
            </a:r>
            <a:r>
              <a:rPr lang="en-US" sz="1800" dirty="0" smtClean="0"/>
              <a:t> </a:t>
            </a:r>
            <a:r>
              <a:rPr lang="ru-RU" sz="1800" dirty="0" smtClean="0"/>
              <a:t>&lt;</a:t>
            </a:r>
            <a:r>
              <a:rPr lang="en-US" sz="1800" dirty="0" err="1" smtClean="0"/>
              <a:t>img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img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изображение </a:t>
            </a:r>
          </a:p>
          <a:p>
            <a:pPr>
              <a:buNone/>
            </a:pPr>
            <a:r>
              <a:rPr lang="en-US" sz="1800" dirty="0" smtClean="0"/>
              <a:t>   </a:t>
            </a:r>
            <a:r>
              <a:rPr lang="ru-RU" sz="1800" dirty="0" smtClean="0"/>
              <a:t>    </a:t>
            </a:r>
            <a:r>
              <a:rPr lang="en-US" sz="1800" dirty="0" smtClean="0"/>
              <a:t>  </a:t>
            </a:r>
            <a:r>
              <a:rPr lang="ru-RU" sz="1800" dirty="0" smtClean="0"/>
              <a:t>&lt;</a:t>
            </a:r>
            <a:r>
              <a:rPr lang="en-US" sz="1800" dirty="0" smtClean="0"/>
              <a:t>form&gt;...&lt;/form&gt;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форма </a:t>
            </a:r>
            <a:endParaRPr lang="en-US" sz="1800" dirty="0" smtClean="0"/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err="1" smtClean="0"/>
              <a:t>hN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hN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заголовок </a:t>
            </a:r>
            <a:r>
              <a:rPr lang="en-US" sz="1800" dirty="0" smtClean="0"/>
              <a:t>N-</a:t>
            </a:r>
            <a:r>
              <a:rPr lang="ru-RU" sz="1800" dirty="0" smtClean="0"/>
              <a:t>ного уровня (</a:t>
            </a:r>
            <a:r>
              <a:rPr lang="en-US" sz="1800" dirty="0" smtClean="0"/>
              <a:t>N = 1...6)</a:t>
            </a:r>
            <a:endParaRPr lang="ru-RU" sz="1800" dirty="0" smtClean="0"/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err="1" smtClean="0"/>
              <a:t>i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i</a:t>
            </a:r>
            <a:r>
              <a:rPr lang="en-US" sz="1800" dirty="0" smtClean="0"/>
              <a:t>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отображение текста курсивом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smtClean="0"/>
              <a:t>b&gt;...&lt;/b&gt;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отображение текста полужирным шрифтом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err="1" smtClean="0"/>
              <a:t>em</a:t>
            </a:r>
            <a:r>
              <a:rPr lang="en-US" sz="1800" dirty="0" smtClean="0"/>
              <a:t>&gt;...&lt;/</a:t>
            </a:r>
            <a:r>
              <a:rPr lang="en-US" sz="1800" dirty="0" err="1" smtClean="0"/>
              <a:t>em</a:t>
            </a:r>
            <a:r>
              <a:rPr lang="en-US" sz="1800" dirty="0" smtClean="0"/>
              <a:t>&gt; </a:t>
            </a:r>
            <a:r>
              <a:rPr lang="ru-RU" sz="1800" dirty="0" smtClean="0"/>
              <a:t>	</a:t>
            </a:r>
            <a:r>
              <a:rPr lang="en-US" sz="1800" dirty="0" smtClean="0"/>
              <a:t>— </a:t>
            </a:r>
            <a:r>
              <a:rPr lang="ru-RU" sz="1800" dirty="0" smtClean="0"/>
              <a:t>выделение курсивом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smtClean="0"/>
              <a:t>strong&gt;...&lt;/strong&gt; </a:t>
            </a:r>
            <a:r>
              <a:rPr lang="ru-RU" sz="1800" dirty="0" smtClean="0"/>
              <a:t>	</a:t>
            </a:r>
            <a:r>
              <a:rPr lang="en-US" sz="1800" dirty="0" smtClean="0"/>
              <a:t>— </a:t>
            </a:r>
            <a:r>
              <a:rPr lang="ru-RU" sz="1800" dirty="0" smtClean="0"/>
              <a:t>усиление (полужирным шрифтом) </a:t>
            </a:r>
          </a:p>
          <a:p>
            <a:pPr>
              <a:buNone/>
            </a:pPr>
            <a:r>
              <a:rPr lang="ru-RU" sz="1800" dirty="0" smtClean="0"/>
              <a:t>&lt;</a:t>
            </a:r>
            <a:r>
              <a:rPr lang="en-US" sz="1800" dirty="0" err="1" smtClean="0"/>
              <a:t>br</a:t>
            </a:r>
            <a:r>
              <a:rPr lang="en-US" sz="1800" dirty="0" smtClean="0"/>
              <a:t>/&gt;</a:t>
            </a:r>
            <a:r>
              <a:rPr lang="ru-RU" sz="1800" dirty="0" smtClean="0"/>
              <a:t>	</a:t>
            </a:r>
            <a:r>
              <a:rPr lang="en-US" sz="1800" dirty="0" smtClean="0"/>
              <a:t> — </a:t>
            </a:r>
            <a:r>
              <a:rPr lang="ru-RU" sz="1800" dirty="0" smtClean="0"/>
              <a:t>принудительный разрыв строки</a:t>
            </a:r>
            <a:endParaRPr lang="ru-RU" sz="1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>
            <a:normAutofit fontScale="90000"/>
          </a:bodyPr>
          <a:lstStyle/>
          <a:p>
            <a:r>
              <a:rPr lang="ru-RU" sz="3100" dirty="0" smtClean="0"/>
              <a:t>1. Элементы гипертекста</a:t>
            </a:r>
            <a:br>
              <a:rPr lang="ru-RU" sz="3100" dirty="0" smtClean="0"/>
            </a:br>
            <a:r>
              <a:rPr lang="ru-RU" sz="2700" dirty="0" smtClean="0"/>
              <a:t>Часто используемые теги</a:t>
            </a:r>
            <a:endParaRPr lang="ru-RU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5562600" y="3022937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Где можно найти полный список тегов для нужной версии языка </a:t>
            </a:r>
            <a:r>
              <a:rPr lang="en-US" sz="2000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HTML?</a:t>
            </a:r>
            <a:endParaRPr lang="ru-RU" sz="2000" dirty="0">
              <a:solidFill>
                <a:srgbClr val="FF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541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1800" dirty="0" smtClean="0"/>
              <a:t>style="описание_стилей" — локальные стили </a:t>
            </a:r>
          </a:p>
          <a:p>
            <a:pPr>
              <a:buNone/>
            </a:pPr>
            <a:r>
              <a:rPr lang="ru-RU" sz="1800" dirty="0" smtClean="0"/>
              <a:t>src="адрес" — адрес (URI) источника данных</a:t>
            </a:r>
            <a:endParaRPr lang="en-US" sz="1800" dirty="0" smtClean="0"/>
          </a:p>
          <a:p>
            <a:pPr>
              <a:buNone/>
            </a:pPr>
            <a:r>
              <a:rPr lang="ru-RU" sz="1800" dirty="0" smtClean="0"/>
              <a:t>href="адрес" — гиперссылка, адрес (URI) </a:t>
            </a:r>
          </a:p>
          <a:p>
            <a:pPr>
              <a:buNone/>
            </a:pPr>
            <a:r>
              <a:rPr lang="en-US" sz="1800" dirty="0" smtClean="0"/>
              <a:t>     </a:t>
            </a:r>
            <a:r>
              <a:rPr lang="ru-RU" sz="1800" dirty="0" smtClean="0"/>
              <a:t>align="left|center|right|justify" — выравнивание, по умолчанию left</a:t>
            </a:r>
          </a:p>
          <a:p>
            <a:pPr>
              <a:buNone/>
            </a:pPr>
            <a:r>
              <a:rPr lang="en-US" sz="1800" dirty="0" smtClean="0"/>
              <a:t>     </a:t>
            </a:r>
            <a:r>
              <a:rPr lang="ru-RU" sz="1800" dirty="0" smtClean="0"/>
              <a:t>width="число" — ширина элемента (в пикселях, пиках, и др.)</a:t>
            </a:r>
          </a:p>
          <a:p>
            <a:pPr>
              <a:buNone/>
            </a:pPr>
            <a:r>
              <a:rPr lang="en-US" sz="1800" dirty="0" smtClean="0"/>
              <a:t>     </a:t>
            </a:r>
            <a:r>
              <a:rPr lang="ru-RU" sz="1800" dirty="0" smtClean="0"/>
              <a:t>height="число" — высота элемента (в пикселях, пиках, и др.)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    </a:t>
            </a:r>
            <a:r>
              <a:rPr lang="ru-RU" sz="1800" dirty="0" smtClean="0"/>
              <a:t>size="число" — размер элемента</a:t>
            </a:r>
          </a:p>
          <a:p>
            <a:pPr>
              <a:buNone/>
            </a:pPr>
            <a:r>
              <a:rPr lang="ru-RU" sz="1800" dirty="0" smtClean="0"/>
              <a:t>name="имя" — имя элемента </a:t>
            </a:r>
          </a:p>
          <a:p>
            <a:pPr>
              <a:buNone/>
            </a:pPr>
            <a:r>
              <a:rPr lang="ru-RU" sz="1800" dirty="0" smtClean="0"/>
              <a:t>id="идентификатор" — уникальный (в пределах веб-страницы) идентификатор элемента </a:t>
            </a:r>
            <a:endParaRPr lang="en-US" sz="1800" dirty="0" smtClean="0"/>
          </a:p>
          <a:p>
            <a:pPr>
              <a:buNone/>
            </a:pPr>
            <a:r>
              <a:rPr lang="ru-RU" sz="1800" dirty="0" smtClean="0"/>
              <a:t>class="имя_класса" — имя класса во встроенной или связанной таблице стилей </a:t>
            </a:r>
          </a:p>
          <a:p>
            <a:pPr>
              <a:buNone/>
            </a:pPr>
            <a:r>
              <a:rPr lang="ru-RU" sz="1800" dirty="0" smtClean="0"/>
              <a:t>title="строка" — название элемента </a:t>
            </a:r>
          </a:p>
          <a:p>
            <a:pPr>
              <a:buNone/>
            </a:pPr>
            <a:r>
              <a:rPr lang="ru-RU" sz="1800" dirty="0" smtClean="0"/>
              <a:t>alt="строка" — альтернативный текст</a:t>
            </a:r>
          </a:p>
          <a:p>
            <a:pPr>
              <a:buNone/>
            </a:pPr>
            <a:r>
              <a:rPr lang="en-US" sz="2200" b="1" dirty="0" smtClean="0"/>
              <a:t>HTML </a:t>
            </a:r>
            <a:r>
              <a:rPr lang="en-US" sz="2200" b="1" dirty="0" smtClean="0"/>
              <a:t>specifications</a:t>
            </a:r>
            <a:r>
              <a:rPr lang="ru-RU" sz="2200" b="1" dirty="0" smtClean="0"/>
              <a:t>:</a:t>
            </a:r>
            <a:r>
              <a:rPr lang="en-US" sz="2200" dirty="0" smtClean="0"/>
              <a:t>	 </a:t>
            </a:r>
            <a:r>
              <a:rPr lang="en-US" sz="2200" dirty="0" smtClean="0">
                <a:hlinkClick r:id="rId3"/>
              </a:rPr>
              <a:t>http://</a:t>
            </a:r>
            <a:r>
              <a:rPr lang="en-US" sz="2200" dirty="0" smtClean="0">
                <a:hlinkClick r:id="rId3"/>
              </a:rPr>
              <a:t>www.w3.org/community/webed/wiki/HTML/Specifications</a:t>
            </a:r>
            <a:endParaRPr lang="en-US" sz="2200" dirty="0" smtClean="0"/>
          </a:p>
          <a:p>
            <a:pPr>
              <a:buNone/>
            </a:pPr>
            <a:r>
              <a:rPr lang="en-US" sz="2200"/>
              <a:t>http://ru.html.net/tutorials/html/</a:t>
            </a:r>
            <a:endParaRPr lang="ru-RU" sz="22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>
            <a:normAutofit fontScale="90000"/>
          </a:bodyPr>
          <a:lstStyle/>
          <a:p>
            <a:r>
              <a:rPr lang="ru-RU" sz="3100" dirty="0" smtClean="0"/>
              <a:t>1. Элементы гипертекста</a:t>
            </a:r>
            <a:br>
              <a:rPr lang="ru-RU" sz="3100" dirty="0" smtClean="0"/>
            </a:br>
            <a:r>
              <a:rPr lang="ru-RU" sz="2700" dirty="0" smtClean="0"/>
              <a:t>Часто используемые атрибуты</a:t>
            </a:r>
            <a:endParaRPr lang="ru-RU" sz="2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Текст комментария размещается между разделителями </a:t>
            </a:r>
            <a:r>
              <a:rPr lang="en-US" b="1" dirty="0" smtClean="0"/>
              <a:t>&lt;!</a:t>
            </a:r>
            <a:r>
              <a:rPr lang="en-US" dirty="0" smtClean="0"/>
              <a:t> </a:t>
            </a:r>
            <a:r>
              <a:rPr lang="ru-RU" dirty="0" smtClean="0"/>
              <a:t>– и –</a:t>
            </a:r>
            <a:r>
              <a:rPr lang="en-US" dirty="0" smtClean="0"/>
              <a:t> </a:t>
            </a:r>
            <a:r>
              <a:rPr lang="en-US" b="1" dirty="0" smtClean="0"/>
              <a:t>&gt;</a:t>
            </a:r>
            <a:endParaRPr lang="ru-RU" b="1" dirty="0" smtClean="0"/>
          </a:p>
          <a:p>
            <a:endParaRPr lang="en-US" dirty="0" smtClean="0"/>
          </a:p>
          <a:p>
            <a:r>
              <a:rPr lang="ru-RU" dirty="0" smtClean="0"/>
              <a:t>Специальные символы – символы, имеющие особое значение, или те, которые невозможно набрать со стандартной клавиатуры.</a:t>
            </a:r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>
            <a:normAutofit/>
          </a:bodyPr>
          <a:lstStyle/>
          <a:p>
            <a:r>
              <a:rPr lang="ru-RU" dirty="0" smtClean="0"/>
              <a:t>2. Комментарии и специальные символы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667000"/>
            <a:ext cx="753098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839200" cy="5029200"/>
          </a:xfrm>
        </p:spPr>
        <p:txBody>
          <a:bodyPr/>
          <a:lstStyle/>
          <a:p>
            <a:r>
              <a:rPr lang="ru-RU" dirty="0" smtClean="0"/>
              <a:t>Гарнитура</a:t>
            </a:r>
            <a:r>
              <a:rPr lang="en-US" dirty="0" smtClean="0"/>
              <a:t> (Times New Roman, Courier, Arial, Verdana… )</a:t>
            </a:r>
          </a:p>
          <a:p>
            <a:r>
              <a:rPr lang="ru-RU" dirty="0" smtClean="0"/>
              <a:t>Размер символов шрифта (кегль)</a:t>
            </a:r>
          </a:p>
          <a:p>
            <a:pPr>
              <a:buNone/>
            </a:pPr>
            <a:r>
              <a:rPr lang="ru-RU" dirty="0" smtClean="0"/>
              <a:t>		1 пункт = 0.35 мм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ru-RU" dirty="0" smtClean="0"/>
          </a:p>
          <a:p>
            <a:r>
              <a:rPr lang="ru-RU" dirty="0" smtClean="0"/>
              <a:t>Начертание символов</a:t>
            </a:r>
            <a:r>
              <a:rPr lang="en-US" dirty="0" smtClean="0"/>
              <a:t>: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Цвет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>
            <a:normAutofit/>
          </a:bodyPr>
          <a:lstStyle/>
          <a:p>
            <a:r>
              <a:rPr lang="ru-RU" dirty="0" smtClean="0"/>
              <a:t>3. Форматирование текста</a:t>
            </a:r>
            <a:br>
              <a:rPr lang="ru-RU" dirty="0" smtClean="0"/>
            </a:br>
            <a:r>
              <a:rPr lang="ru-RU" sz="2400" dirty="0" smtClean="0"/>
              <a:t>Шрифтовое оформление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0" y="990600"/>
            <a:ext cx="91440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Все элементы форматирования текста требуют наличия конечного тега</a:t>
            </a:r>
            <a:endParaRPr lang="ru-RU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2571690"/>
            <a:ext cx="914400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 smtClean="0"/>
              <a:t>&lt;font size</a:t>
            </a:r>
            <a:r>
              <a:rPr lang="en-US" sz="2000" dirty="0" smtClean="0"/>
              <a:t>=“</a:t>
            </a:r>
            <a:r>
              <a:rPr lang="ru-RU" sz="2000" dirty="0" smtClean="0"/>
              <a:t>целое </a:t>
            </a:r>
            <a:r>
              <a:rPr lang="en-US" sz="2000" dirty="0" smtClean="0"/>
              <a:t>[1..7]” </a:t>
            </a:r>
            <a:r>
              <a:rPr lang="ru-RU" sz="2000" dirty="0" smtClean="0"/>
              <a:t> </a:t>
            </a:r>
            <a:r>
              <a:rPr lang="en-US" sz="2000" b="1" dirty="0" smtClean="0"/>
              <a:t>color</a:t>
            </a:r>
            <a:r>
              <a:rPr lang="en-US" sz="2000" dirty="0" smtClean="0"/>
              <a:t>=“</a:t>
            </a:r>
            <a:r>
              <a:rPr lang="ru-RU" sz="2000" dirty="0" smtClean="0"/>
              <a:t>цвет / </a:t>
            </a:r>
            <a:r>
              <a:rPr lang="en-US" sz="2000" dirty="0" smtClean="0"/>
              <a:t>#000000” </a:t>
            </a:r>
            <a:r>
              <a:rPr lang="en-US" sz="2000" b="1" dirty="0" smtClean="0"/>
              <a:t>face</a:t>
            </a:r>
            <a:r>
              <a:rPr lang="en-US" sz="2000" dirty="0" smtClean="0"/>
              <a:t>=“</a:t>
            </a:r>
            <a:r>
              <a:rPr lang="en-US" sz="2000" dirty="0" err="1" smtClean="0"/>
              <a:t>arial</a:t>
            </a:r>
            <a:r>
              <a:rPr lang="en-US" sz="2000" dirty="0" smtClean="0"/>
              <a:t>”</a:t>
            </a:r>
            <a:r>
              <a:rPr lang="en-US" sz="2000" b="1" dirty="0" smtClean="0"/>
              <a:t>&gt;</a:t>
            </a:r>
            <a:r>
              <a:rPr lang="ru-RU" sz="2000" b="1" dirty="0" smtClean="0"/>
              <a:t> текст </a:t>
            </a:r>
            <a:r>
              <a:rPr lang="en-US" sz="2000" b="1" dirty="0" smtClean="0"/>
              <a:t>&lt;/font&gt;</a:t>
            </a:r>
            <a:endParaRPr lang="ru-RU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914400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2000" dirty="0" smtClean="0"/>
              <a:t>italic - 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&gt; … &lt;/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&gt;</a:t>
            </a:r>
            <a:r>
              <a:rPr lang="ru-RU" sz="2000" dirty="0" smtClean="0"/>
              <a:t>;</a:t>
            </a:r>
            <a:r>
              <a:rPr lang="en-US" sz="2000" dirty="0" smtClean="0"/>
              <a:t> bold - </a:t>
            </a:r>
            <a:r>
              <a:rPr lang="en-US" sz="2000" b="1" dirty="0" smtClean="0"/>
              <a:t>&lt;b&gt; … &lt;/b&gt;</a:t>
            </a:r>
            <a:r>
              <a:rPr lang="ru-RU" sz="2000" dirty="0" smtClean="0"/>
              <a:t>;</a:t>
            </a:r>
            <a:r>
              <a:rPr lang="en-US" sz="2000" dirty="0" smtClean="0"/>
              <a:t> bold italic -</a:t>
            </a:r>
            <a:r>
              <a:rPr lang="en-US" sz="2000" b="1" dirty="0" smtClean="0"/>
              <a:t> &lt;b&gt;&lt;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&gt; … &lt;/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&gt;&lt;/b&gt;</a:t>
            </a:r>
            <a:endParaRPr lang="ru-RU" sz="20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4876800"/>
            <a:ext cx="33337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4876800"/>
            <a:ext cx="335280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059363"/>
          </a:xfrm>
        </p:spPr>
        <p:txBody>
          <a:bodyPr/>
          <a:lstStyle/>
          <a:p>
            <a:r>
              <a:rPr lang="ru-RU" dirty="0" smtClean="0"/>
              <a:t>Заголовки</a:t>
            </a:r>
            <a:endParaRPr lang="en-US" dirty="0" smtClean="0"/>
          </a:p>
          <a:p>
            <a:endParaRPr lang="ru-RU" dirty="0" smtClean="0"/>
          </a:p>
          <a:p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</a:p>
          <a:p>
            <a:r>
              <a:rPr lang="ru-RU" dirty="0" smtClean="0"/>
              <a:t>Абзацы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ru-RU" dirty="0" smtClean="0"/>
          </a:p>
          <a:p>
            <a:r>
              <a:rPr lang="ru-RU" dirty="0" smtClean="0"/>
              <a:t>Списки</a:t>
            </a:r>
          </a:p>
          <a:p>
            <a:endParaRPr lang="ru-RU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>
            <a:normAutofit/>
          </a:bodyPr>
          <a:lstStyle/>
          <a:p>
            <a:r>
              <a:rPr lang="ru-RU" dirty="0" smtClean="0"/>
              <a:t>3. Форматирование текста</a:t>
            </a:r>
            <a:br>
              <a:rPr lang="ru-RU" dirty="0" smtClean="0"/>
            </a:br>
            <a:r>
              <a:rPr lang="ru-RU" sz="2400" dirty="0" smtClean="0"/>
              <a:t>Разметка структуры текста документа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504890"/>
            <a:ext cx="9144000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2000" b="1" dirty="0" smtClean="0"/>
              <a:t>&lt;</a:t>
            </a:r>
            <a:r>
              <a:rPr lang="en-US" sz="2000" b="1" dirty="0" err="1" smtClean="0"/>
              <a:t>hn</a:t>
            </a:r>
            <a:r>
              <a:rPr lang="en-US" sz="2000" b="1" dirty="0" smtClean="0"/>
              <a:t> [align</a:t>
            </a:r>
            <a:r>
              <a:rPr lang="en-US" sz="2000" dirty="0" smtClean="0"/>
              <a:t>=“</a:t>
            </a:r>
            <a:r>
              <a:rPr lang="ru-RU" sz="2000" dirty="0" smtClean="0"/>
              <a:t>выравнивание</a:t>
            </a:r>
            <a:r>
              <a:rPr lang="en-US" sz="2000" dirty="0" smtClean="0"/>
              <a:t>”</a:t>
            </a:r>
            <a:r>
              <a:rPr lang="en-US" sz="2000" b="1" dirty="0" smtClean="0"/>
              <a:t>]&gt; </a:t>
            </a:r>
            <a:r>
              <a:rPr lang="ru-RU" sz="2000" dirty="0" smtClean="0"/>
              <a:t>текст заголовка </a:t>
            </a:r>
            <a:r>
              <a:rPr lang="en-US" sz="2000" b="1" dirty="0" smtClean="0"/>
              <a:t>&lt;/</a:t>
            </a:r>
            <a:r>
              <a:rPr lang="en-US" sz="2000" b="1" dirty="0" err="1" smtClean="0"/>
              <a:t>hn</a:t>
            </a:r>
            <a:r>
              <a:rPr lang="en-US" sz="2000" b="1" dirty="0" smtClean="0"/>
              <a:t>&gt;</a:t>
            </a:r>
          </a:p>
          <a:p>
            <a:pPr algn="r">
              <a:buNone/>
            </a:pPr>
            <a:r>
              <a:rPr lang="ru-RU" sz="2000" dirty="0" smtClean="0"/>
              <a:t> где </a:t>
            </a:r>
            <a:r>
              <a:rPr lang="en-US" sz="2000" dirty="0" smtClean="0"/>
              <a:t>n – 1 .. 6</a:t>
            </a:r>
            <a:r>
              <a:rPr lang="ru-RU" sz="2000" dirty="0" smtClean="0"/>
              <a:t>; </a:t>
            </a:r>
            <a:r>
              <a:rPr lang="en-US" sz="2000" dirty="0" smtClean="0"/>
              <a:t>“</a:t>
            </a:r>
            <a:r>
              <a:rPr lang="ru-RU" sz="2000" dirty="0" smtClean="0"/>
              <a:t>выравнивание</a:t>
            </a:r>
            <a:r>
              <a:rPr lang="en-US" sz="2000" dirty="0" smtClean="0"/>
              <a:t>” – “left”, “center”, “right”, “justify”</a:t>
            </a:r>
            <a:endParaRPr lang="ru-RU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2971800"/>
            <a:ext cx="9144000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2000" b="1" dirty="0" smtClean="0"/>
              <a:t>&lt;p [align</a:t>
            </a:r>
            <a:r>
              <a:rPr lang="en-US" sz="2000" dirty="0" smtClean="0"/>
              <a:t>=“</a:t>
            </a:r>
            <a:r>
              <a:rPr lang="ru-RU" sz="2000" dirty="0" smtClean="0"/>
              <a:t>выравнивание</a:t>
            </a:r>
            <a:r>
              <a:rPr lang="en-US" sz="2000" dirty="0" smtClean="0"/>
              <a:t>”</a:t>
            </a:r>
            <a:r>
              <a:rPr lang="en-US" sz="2000" b="1" dirty="0" smtClean="0"/>
              <a:t>]&gt; </a:t>
            </a:r>
            <a:r>
              <a:rPr lang="ru-RU" sz="2000" dirty="0" smtClean="0"/>
              <a:t>содержимое_абзаца</a:t>
            </a:r>
            <a:r>
              <a:rPr lang="ru-RU" sz="2000" b="1" dirty="0" smtClean="0"/>
              <a:t> </a:t>
            </a:r>
            <a:r>
              <a:rPr lang="en-US" sz="2000" b="1" dirty="0" smtClean="0"/>
              <a:t>&lt;/p&gt;</a:t>
            </a:r>
          </a:p>
          <a:p>
            <a:pPr algn="r">
              <a:buNone/>
            </a:pPr>
            <a:r>
              <a:rPr lang="en-US" sz="2000" dirty="0" smtClean="0"/>
              <a:t>“</a:t>
            </a:r>
            <a:r>
              <a:rPr lang="ru-RU" sz="2000" dirty="0" smtClean="0"/>
              <a:t>выравнивание</a:t>
            </a:r>
            <a:r>
              <a:rPr lang="en-US" sz="2000" dirty="0" smtClean="0"/>
              <a:t>”  - “left”, “center”, “right”, “justify” </a:t>
            </a:r>
            <a:endParaRPr lang="ru-RU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397514"/>
            <a:ext cx="9144000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2000" b="1" dirty="0" smtClean="0"/>
              <a:t>&lt;</a:t>
            </a:r>
            <a:r>
              <a:rPr lang="en-US" sz="2000" b="1" dirty="0" err="1" smtClean="0"/>
              <a:t>ul</a:t>
            </a:r>
            <a:r>
              <a:rPr lang="en-US" sz="2000" b="1" dirty="0" smtClean="0"/>
              <a:t> [type </a:t>
            </a:r>
            <a:r>
              <a:rPr lang="en-US" sz="2000" dirty="0" smtClean="0"/>
              <a:t>= “disk / circle / square”</a:t>
            </a:r>
            <a:r>
              <a:rPr lang="en-US" sz="2000" b="1" dirty="0" smtClean="0"/>
              <a:t>]&gt; … &lt;/</a:t>
            </a:r>
            <a:r>
              <a:rPr lang="en-US" sz="2000" b="1" dirty="0" err="1" smtClean="0"/>
              <a:t>ul</a:t>
            </a:r>
            <a:r>
              <a:rPr lang="en-US" sz="2000" b="1" dirty="0" smtClean="0"/>
              <a:t>&gt;, &lt;</a:t>
            </a:r>
            <a:r>
              <a:rPr lang="en-US" sz="2000" b="1" dirty="0" err="1" smtClean="0"/>
              <a:t>li</a:t>
            </a:r>
            <a:r>
              <a:rPr lang="en-US" sz="2000" b="1" dirty="0" smtClean="0"/>
              <a:t>&gt; </a:t>
            </a:r>
            <a:r>
              <a:rPr lang="ru-RU" sz="2000" dirty="0" smtClean="0"/>
              <a:t>элемент_списка</a:t>
            </a:r>
            <a:r>
              <a:rPr lang="en-US" sz="2000" b="1" dirty="0" smtClean="0"/>
              <a:t> &lt;/</a:t>
            </a:r>
            <a:r>
              <a:rPr lang="en-US" sz="2000" b="1" dirty="0" err="1" smtClean="0"/>
              <a:t>li</a:t>
            </a:r>
            <a:r>
              <a:rPr lang="en-US" sz="2000" b="1" dirty="0" smtClean="0"/>
              <a:t>&gt;</a:t>
            </a:r>
            <a:endParaRPr lang="en-US" sz="2000" dirty="0" smtClean="0"/>
          </a:p>
          <a:p>
            <a:pPr algn="r"/>
            <a:r>
              <a:rPr lang="en-US" sz="2000" b="1" dirty="0" smtClean="0"/>
              <a:t>&lt;</a:t>
            </a:r>
            <a:r>
              <a:rPr lang="en-US" sz="2000" b="1" dirty="0" err="1" smtClean="0"/>
              <a:t>ol</a:t>
            </a:r>
            <a:r>
              <a:rPr lang="en-US" sz="2000" b="1" dirty="0" smtClean="0"/>
              <a:t> [type </a:t>
            </a:r>
            <a:r>
              <a:rPr lang="en-US" sz="2000" dirty="0" smtClean="0"/>
              <a:t>= “</a:t>
            </a:r>
            <a:r>
              <a:rPr lang="ru-RU" sz="2000" dirty="0" smtClean="0"/>
              <a:t>А </a:t>
            </a:r>
            <a:r>
              <a:rPr lang="en-US" sz="2000" dirty="0" smtClean="0"/>
              <a:t>/ a / I / </a:t>
            </a:r>
            <a:r>
              <a:rPr lang="en-US" sz="2000" dirty="0" err="1" smtClean="0"/>
              <a:t>i</a:t>
            </a:r>
            <a:r>
              <a:rPr lang="en-US" sz="2000" dirty="0" smtClean="0"/>
              <a:t> / 1” </a:t>
            </a:r>
            <a:r>
              <a:rPr lang="en-US" sz="2000" b="1" dirty="0" smtClean="0"/>
              <a:t> start</a:t>
            </a:r>
            <a:r>
              <a:rPr lang="en-US" sz="2000" dirty="0" smtClean="0"/>
              <a:t>=n</a:t>
            </a:r>
            <a:r>
              <a:rPr lang="en-US" sz="2000" b="1" dirty="0" smtClean="0"/>
              <a:t>]&gt; … &lt;/</a:t>
            </a:r>
            <a:r>
              <a:rPr lang="en-US" sz="2000" b="1" dirty="0" err="1" smtClean="0"/>
              <a:t>ol</a:t>
            </a:r>
            <a:r>
              <a:rPr lang="en-US" sz="2000" b="1" dirty="0" smtClean="0"/>
              <a:t>&gt;, &lt;</a:t>
            </a:r>
            <a:r>
              <a:rPr lang="en-US" sz="2000" b="1" dirty="0" err="1" smtClean="0"/>
              <a:t>li</a:t>
            </a:r>
            <a:r>
              <a:rPr lang="en-US" sz="2000" b="1" dirty="0" smtClean="0"/>
              <a:t>&gt; </a:t>
            </a:r>
            <a:r>
              <a:rPr lang="ru-RU" sz="2000" dirty="0" smtClean="0"/>
              <a:t>элемент_списка</a:t>
            </a:r>
            <a:r>
              <a:rPr lang="en-US" sz="2000" b="1" dirty="0" smtClean="0"/>
              <a:t> &lt;/</a:t>
            </a:r>
            <a:r>
              <a:rPr lang="en-US" sz="2000" b="1" dirty="0" err="1" smtClean="0"/>
              <a:t>li</a:t>
            </a:r>
            <a:r>
              <a:rPr lang="en-US" sz="2000" b="1" dirty="0" smtClean="0"/>
              <a:t>&gt;</a:t>
            </a:r>
            <a:endParaRPr lang="en-US" sz="2000" dirty="0" smtClean="0"/>
          </a:p>
          <a:p>
            <a:pPr algn="r">
              <a:buNone/>
            </a:pPr>
            <a:r>
              <a:rPr lang="en-US" sz="2000" b="1" dirty="0" smtClean="0"/>
              <a:t>&lt;dl&gt; … &lt;/dl&gt;</a:t>
            </a:r>
            <a:r>
              <a:rPr lang="en-US" sz="2000" dirty="0" smtClean="0"/>
              <a:t>, 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dt</a:t>
            </a:r>
            <a:r>
              <a:rPr lang="en-US" sz="2000" b="1" dirty="0" smtClean="0"/>
              <a:t>&gt; </a:t>
            </a:r>
            <a:r>
              <a:rPr lang="ru-RU" sz="2000" dirty="0" smtClean="0"/>
              <a:t>объявление_термина </a:t>
            </a:r>
            <a:r>
              <a:rPr lang="en-US" sz="2000" b="1" dirty="0" smtClean="0"/>
              <a:t>&lt;/</a:t>
            </a:r>
            <a:r>
              <a:rPr lang="en-US" sz="2000" b="1" dirty="0" err="1" smtClean="0"/>
              <a:t>dt</a:t>
            </a:r>
            <a:r>
              <a:rPr lang="en-US" sz="2000" b="1" dirty="0" smtClean="0"/>
              <a:t>&gt;</a:t>
            </a:r>
            <a:r>
              <a:rPr lang="en-US" sz="2000" dirty="0" smtClean="0"/>
              <a:t>, </a:t>
            </a:r>
            <a:r>
              <a:rPr lang="en-US" sz="2000" b="1" dirty="0" smtClean="0"/>
              <a:t>&lt;</a:t>
            </a:r>
            <a:r>
              <a:rPr lang="en-US" sz="2000" b="1" dirty="0" err="1" smtClean="0"/>
              <a:t>dd</a:t>
            </a:r>
            <a:r>
              <a:rPr lang="en-US" sz="2000" b="1" dirty="0" smtClean="0"/>
              <a:t>&gt; </a:t>
            </a:r>
            <a:r>
              <a:rPr lang="ru-RU" sz="2000" dirty="0" smtClean="0"/>
              <a:t>определение_термина </a:t>
            </a:r>
            <a:r>
              <a:rPr lang="en-US" sz="2000" b="1" dirty="0" smtClean="0"/>
              <a:t>&lt;/</a:t>
            </a:r>
            <a:r>
              <a:rPr lang="en-US" sz="2000" b="1" dirty="0" err="1" smtClean="0"/>
              <a:t>dd</a:t>
            </a:r>
            <a:r>
              <a:rPr lang="en-US" sz="2000" b="1" dirty="0" smtClean="0"/>
              <a:t>&gt;</a:t>
            </a:r>
            <a:endParaRPr lang="ru-RU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ru-RU" dirty="0" smtClean="0"/>
              <a:t>Графические элементы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33600"/>
            <a:ext cx="8915400" cy="43434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u-RU" dirty="0" smtClean="0"/>
              <a:t>Центрирование:		</a:t>
            </a:r>
            <a:r>
              <a:rPr lang="en-US" sz="1800" b="1" dirty="0" smtClean="0"/>
              <a:t>&lt;p align</a:t>
            </a:r>
            <a:r>
              <a:rPr lang="en-US" sz="1800" dirty="0" smtClean="0"/>
              <a:t>=“center”</a:t>
            </a:r>
            <a:r>
              <a:rPr lang="en-US" sz="1800" b="1" dirty="0" smtClean="0"/>
              <a:t>&gt;&lt;</a:t>
            </a:r>
            <a:r>
              <a:rPr lang="en-US" sz="1800" b="1" dirty="0" err="1" smtClean="0"/>
              <a:t>img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src</a:t>
            </a:r>
            <a:r>
              <a:rPr lang="en-US" sz="1800" dirty="0" smtClean="0"/>
              <a:t>=“...”</a:t>
            </a:r>
            <a:r>
              <a:rPr lang="en-US" sz="1800" b="1" dirty="0" smtClean="0"/>
              <a:t>&gt;&lt;/p&gt;</a:t>
            </a:r>
          </a:p>
          <a:p>
            <a:pPr>
              <a:spcAft>
                <a:spcPts val="1200"/>
              </a:spcAft>
              <a:buNone/>
            </a:pPr>
            <a:r>
              <a:rPr lang="en-US" sz="1800" b="1" dirty="0" smtClean="0"/>
              <a:t>					&lt;center&gt; &lt;</a:t>
            </a:r>
            <a:r>
              <a:rPr lang="en-US" sz="1800" b="1" dirty="0" err="1" smtClean="0"/>
              <a:t>img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src</a:t>
            </a:r>
            <a:r>
              <a:rPr lang="en-US" sz="1800" dirty="0" smtClean="0"/>
              <a:t>=“...”</a:t>
            </a:r>
            <a:r>
              <a:rPr lang="en-US" sz="1800" b="1" dirty="0" smtClean="0"/>
              <a:t>&gt; &lt;/center&gt;</a:t>
            </a:r>
            <a:endParaRPr lang="ru-RU" sz="1800" b="1" dirty="0" smtClean="0"/>
          </a:p>
          <a:p>
            <a:pPr>
              <a:spcAft>
                <a:spcPts val="1200"/>
              </a:spcAft>
            </a:pPr>
            <a:r>
              <a:rPr lang="ru-RU" dirty="0" smtClean="0"/>
              <a:t>Поля вокруг изображения: 	атрибуты </a:t>
            </a:r>
            <a:r>
              <a:rPr lang="en-US" b="1" i="1" dirty="0" err="1" smtClean="0"/>
              <a:t>hspace</a:t>
            </a:r>
            <a:r>
              <a:rPr lang="en-US" b="1" i="1" dirty="0" smtClean="0"/>
              <a:t>, </a:t>
            </a:r>
            <a:r>
              <a:rPr lang="en-US" b="1" i="1" dirty="0" err="1" smtClean="0"/>
              <a:t>vspace</a:t>
            </a:r>
            <a:r>
              <a:rPr lang="en-US" b="1" i="1" dirty="0" smtClean="0"/>
              <a:t> </a:t>
            </a:r>
            <a:r>
              <a:rPr lang="ru-RU" dirty="0" smtClean="0"/>
              <a:t>элемента </a:t>
            </a:r>
            <a:r>
              <a:rPr lang="en-US" b="1" i="1" dirty="0" err="1" smtClean="0"/>
              <a:t>img</a:t>
            </a:r>
            <a:endParaRPr lang="ru-RU" b="1" i="1" dirty="0" smtClean="0"/>
          </a:p>
          <a:p>
            <a:r>
              <a:rPr lang="ru-RU" dirty="0" smtClean="0"/>
              <a:t>Обтекание изображения: 	атрибут </a:t>
            </a:r>
            <a:r>
              <a:rPr lang="en-US" b="1" i="1" dirty="0" smtClean="0"/>
              <a:t>clear </a:t>
            </a:r>
            <a:r>
              <a:rPr lang="ru-RU" b="1" i="1" dirty="0" smtClean="0"/>
              <a:t> </a:t>
            </a:r>
            <a:r>
              <a:rPr lang="ru-RU" dirty="0" smtClean="0"/>
              <a:t>элемента </a:t>
            </a:r>
            <a:r>
              <a:rPr lang="en-US" b="1" i="1" dirty="0" smtClean="0"/>
              <a:t>br</a:t>
            </a:r>
          </a:p>
          <a:p>
            <a:pPr>
              <a:spcAft>
                <a:spcPts val="1200"/>
              </a:spcAft>
              <a:buNone/>
            </a:pPr>
            <a:r>
              <a:rPr lang="en-US" b="1" i="1" dirty="0" smtClean="0"/>
              <a:t>		</a:t>
            </a:r>
            <a:r>
              <a:rPr lang="en-US" sz="1800" dirty="0" smtClean="0"/>
              <a:t>* Te</a:t>
            </a:r>
            <a:r>
              <a:rPr lang="ru-RU" sz="1800" dirty="0" smtClean="0"/>
              <a:t>кст обтекает изображение пока не достигнет его нижнего края</a:t>
            </a:r>
            <a:endParaRPr lang="en-US" sz="1800" b="1" i="1" dirty="0" smtClean="0"/>
          </a:p>
          <a:p>
            <a:pPr>
              <a:spcAft>
                <a:spcPts val="1200"/>
              </a:spcAft>
            </a:pPr>
            <a:r>
              <a:rPr lang="ru-RU" dirty="0" smtClean="0"/>
              <a:t>Горизонтальные линии:	</a:t>
            </a:r>
            <a:r>
              <a:rPr lang="en-US" sz="1800" b="1" dirty="0" smtClean="0"/>
              <a:t>&lt;hr [size / width / </a:t>
            </a:r>
            <a:r>
              <a:rPr lang="en-US" sz="1800" b="1" dirty="0" err="1" smtClean="0"/>
              <a:t>noshade</a:t>
            </a:r>
            <a:r>
              <a:rPr lang="en-US" sz="1800" b="1" dirty="0" smtClean="0"/>
              <a:t>]&gt;</a:t>
            </a:r>
          </a:p>
          <a:p>
            <a:pPr>
              <a:spcAft>
                <a:spcPts val="1200"/>
              </a:spcAft>
            </a:pPr>
            <a:r>
              <a:rPr lang="ru-RU" dirty="0" smtClean="0"/>
              <a:t>Цвет фона документа:	</a:t>
            </a:r>
            <a:r>
              <a:rPr lang="en-US" sz="1800" b="1" dirty="0" smtClean="0"/>
              <a:t>&lt;body </a:t>
            </a:r>
            <a:r>
              <a:rPr lang="en-US" sz="1800" b="1" dirty="0" err="1" smtClean="0"/>
              <a:t>bgcolor</a:t>
            </a:r>
            <a:r>
              <a:rPr lang="en-US" sz="1800" b="1" dirty="0" smtClean="0"/>
              <a:t>=“</a:t>
            </a:r>
            <a:r>
              <a:rPr lang="ru-RU" sz="1800" b="1" dirty="0" smtClean="0"/>
              <a:t>цвет</a:t>
            </a:r>
            <a:r>
              <a:rPr lang="en-US" sz="1800" b="1" dirty="0" smtClean="0"/>
              <a:t>”&gt;…&lt;/body&gt;</a:t>
            </a:r>
          </a:p>
          <a:p>
            <a:pPr>
              <a:spcAft>
                <a:spcPts val="1200"/>
              </a:spcAft>
            </a:pPr>
            <a:r>
              <a:rPr lang="ru-RU" dirty="0" smtClean="0"/>
              <a:t>Изображение как фон:	</a:t>
            </a:r>
            <a:r>
              <a:rPr lang="en-US" sz="1800" b="1" dirty="0" smtClean="0"/>
              <a:t>&lt;body background=“</a:t>
            </a:r>
            <a:r>
              <a:rPr lang="ru-RU" sz="1800" b="1" dirty="0" smtClean="0"/>
              <a:t>имя</a:t>
            </a:r>
            <a:r>
              <a:rPr lang="en-US" sz="1800" b="1" dirty="0" smtClean="0"/>
              <a:t>”&gt;…&lt;/body&gt;</a:t>
            </a:r>
            <a:endParaRPr lang="ru-RU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044714"/>
            <a:ext cx="9144000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2000" b="1" dirty="0" smtClean="0"/>
              <a:t>&lt;</a:t>
            </a:r>
            <a:r>
              <a:rPr lang="en-US" sz="2000" b="1" dirty="0" err="1" smtClean="0"/>
              <a:t>img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src</a:t>
            </a:r>
            <a:r>
              <a:rPr lang="en-US" sz="2000" dirty="0" smtClean="0"/>
              <a:t>=“</a:t>
            </a:r>
            <a:r>
              <a:rPr lang="ru-RU" sz="2000" dirty="0" smtClean="0"/>
              <a:t>файл</a:t>
            </a:r>
            <a:r>
              <a:rPr lang="en-US" sz="2000" dirty="0" smtClean="0"/>
              <a:t>” </a:t>
            </a:r>
            <a:r>
              <a:rPr lang="en-US" sz="2000" b="1" dirty="0" smtClean="0"/>
              <a:t>[alt / width / height / align / </a:t>
            </a:r>
            <a:r>
              <a:rPr lang="en-US" sz="2000" b="1" dirty="0" err="1" smtClean="0"/>
              <a:t>hspace</a:t>
            </a:r>
            <a:r>
              <a:rPr lang="en-US" sz="2000" b="1" dirty="0" smtClean="0"/>
              <a:t> / </a:t>
            </a:r>
            <a:r>
              <a:rPr lang="en-US" sz="2000" b="1" dirty="0" err="1" smtClean="0"/>
              <a:t>vspace</a:t>
            </a:r>
            <a:r>
              <a:rPr lang="en-US" sz="2000" b="1" dirty="0" smtClean="0"/>
              <a:t>] /&gt;</a:t>
            </a:r>
            <a:r>
              <a:rPr lang="ru-RU" sz="2000" b="1" dirty="0" smtClean="0"/>
              <a:t>, </a:t>
            </a:r>
            <a:r>
              <a:rPr lang="ru-RU" sz="2000" dirty="0" smtClean="0"/>
              <a:t>где</a:t>
            </a:r>
          </a:p>
          <a:p>
            <a:pPr algn="r"/>
            <a:r>
              <a:rPr lang="en-US" sz="2000" dirty="0" smtClean="0"/>
              <a:t>alt = “</a:t>
            </a:r>
            <a:r>
              <a:rPr lang="ru-RU" sz="2000" dirty="0" smtClean="0"/>
              <a:t>описание_изображения</a:t>
            </a:r>
            <a:r>
              <a:rPr lang="en-US" sz="2000" dirty="0" smtClean="0"/>
              <a:t>”</a:t>
            </a:r>
            <a:endParaRPr lang="ru-RU" sz="2000" b="1" dirty="0" smtClean="0"/>
          </a:p>
          <a:p>
            <a:pPr algn="r">
              <a:buNone/>
            </a:pPr>
            <a:r>
              <a:rPr lang="en-US" sz="2000" dirty="0" smtClean="0"/>
              <a:t>align = “left”/“right”/”bottom”/”middle”/”top”</a:t>
            </a: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5. Гиперссылки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915400" cy="51054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dirty="0" smtClean="0"/>
              <a:t>Цвет гиперссылок:	</a:t>
            </a:r>
            <a:r>
              <a:rPr lang="en-US" dirty="0" smtClean="0"/>
              <a:t>	</a:t>
            </a:r>
            <a:r>
              <a:rPr lang="en-US" sz="1800" b="1" dirty="0" smtClean="0"/>
              <a:t>&lt;body [link / </a:t>
            </a:r>
            <a:r>
              <a:rPr lang="en-US" sz="1800" b="1" dirty="0" err="1" smtClean="0"/>
              <a:t>vlink</a:t>
            </a:r>
            <a:r>
              <a:rPr lang="en-US" sz="1800" b="1" dirty="0" smtClean="0"/>
              <a:t> / </a:t>
            </a:r>
            <a:r>
              <a:rPr lang="en-US" sz="1800" b="1" dirty="0" err="1" smtClean="0"/>
              <a:t>alink</a:t>
            </a:r>
            <a:r>
              <a:rPr lang="en-US" sz="1800" b="1" dirty="0" smtClean="0"/>
              <a:t>]&gt;</a:t>
            </a:r>
            <a:r>
              <a:rPr lang="en-US" sz="1800" dirty="0" smtClean="0"/>
              <a:t>…</a:t>
            </a:r>
            <a:r>
              <a:rPr lang="en-US" sz="1800" b="1" dirty="0" smtClean="0"/>
              <a:t>&lt;/body&gt;</a:t>
            </a:r>
            <a:r>
              <a:rPr lang="en-US" dirty="0" smtClean="0"/>
              <a:t> </a:t>
            </a:r>
          </a:p>
          <a:p>
            <a:pPr>
              <a:spcAft>
                <a:spcPts val="1200"/>
              </a:spcAft>
            </a:pPr>
            <a:r>
              <a:rPr lang="ru-RU" dirty="0" smtClean="0"/>
              <a:t>Граница графической ссылки:	</a:t>
            </a:r>
            <a:r>
              <a:rPr lang="en-US" b="1" dirty="0" smtClean="0"/>
              <a:t> </a:t>
            </a:r>
            <a:r>
              <a:rPr lang="en-US" sz="1800" b="1" dirty="0" smtClean="0"/>
              <a:t>&lt;</a:t>
            </a:r>
            <a:r>
              <a:rPr lang="en-US" sz="1800" b="1" dirty="0" err="1" smtClean="0"/>
              <a:t>img</a:t>
            </a:r>
            <a:r>
              <a:rPr lang="en-US" sz="1800" b="1" dirty="0" smtClean="0"/>
              <a:t> [border</a:t>
            </a:r>
            <a:r>
              <a:rPr lang="en-US" sz="1800" dirty="0" smtClean="0"/>
              <a:t>=“0”</a:t>
            </a:r>
            <a:r>
              <a:rPr lang="en-US" sz="1800" b="1" dirty="0" smtClean="0"/>
              <a:t>]&gt;</a:t>
            </a:r>
            <a:endParaRPr lang="en-US" sz="1800" dirty="0" smtClean="0"/>
          </a:p>
          <a:p>
            <a:r>
              <a:rPr lang="ru-RU" dirty="0" smtClean="0"/>
              <a:t>Абсолютные и относительные </a:t>
            </a:r>
            <a:r>
              <a:rPr lang="en-US" dirty="0" smtClean="0"/>
              <a:t>URI</a:t>
            </a:r>
            <a:r>
              <a:rPr lang="ru-RU" dirty="0" smtClean="0"/>
              <a:t>:</a:t>
            </a:r>
            <a:endParaRPr lang="en-US" dirty="0" smtClean="0"/>
          </a:p>
          <a:p>
            <a:pPr>
              <a:buNone/>
            </a:pPr>
            <a:r>
              <a:rPr lang="ru-RU" sz="1800" dirty="0" smtClean="0"/>
              <a:t>	</a:t>
            </a:r>
            <a:r>
              <a:rPr lang="en-US" sz="1800" dirty="0" smtClean="0"/>
              <a:t>		</a:t>
            </a:r>
            <a:r>
              <a:rPr lang="en-US" sz="1800" dirty="0" err="1" smtClean="0"/>
              <a:t>href</a:t>
            </a:r>
            <a:r>
              <a:rPr lang="en-US" sz="1800" dirty="0" smtClean="0"/>
              <a:t>=“http://www.hse.ru”</a:t>
            </a:r>
          </a:p>
          <a:p>
            <a:pPr>
              <a:spcAft>
                <a:spcPts val="1200"/>
              </a:spcAft>
              <a:buNone/>
            </a:pPr>
            <a:r>
              <a:rPr lang="ru-RU" sz="1800" dirty="0" smtClean="0"/>
              <a:t>	</a:t>
            </a:r>
            <a:r>
              <a:rPr lang="en-US" sz="1800" dirty="0" smtClean="0"/>
              <a:t>		</a:t>
            </a:r>
            <a:r>
              <a:rPr lang="en-US" sz="1800" dirty="0" err="1" smtClean="0"/>
              <a:t>href</a:t>
            </a:r>
            <a:r>
              <a:rPr lang="en-US" sz="1800" dirty="0" smtClean="0"/>
              <a:t>=“info/test.htm</a:t>
            </a:r>
            <a:r>
              <a:rPr lang="en-US" dirty="0" smtClean="0"/>
              <a:t>”</a:t>
            </a:r>
          </a:p>
          <a:p>
            <a:r>
              <a:rPr lang="ru-RU" dirty="0" smtClean="0"/>
              <a:t>Гиперссылки в пределах документа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		- </a:t>
            </a:r>
            <a:r>
              <a:rPr lang="ru-RU" dirty="0" smtClean="0"/>
              <a:t>якорь: 	</a:t>
            </a:r>
            <a:r>
              <a:rPr lang="en-US" b="1" dirty="0" smtClean="0"/>
              <a:t> </a:t>
            </a:r>
            <a:r>
              <a:rPr lang="en-US" sz="1800" b="1" dirty="0" smtClean="0"/>
              <a:t>&lt;a name</a:t>
            </a:r>
            <a:r>
              <a:rPr lang="en-US" sz="1800" dirty="0" smtClean="0"/>
              <a:t>=</a:t>
            </a:r>
            <a:r>
              <a:rPr lang="en-US" sz="1800" b="1" dirty="0" smtClean="0"/>
              <a:t>“part1”&gt; </a:t>
            </a:r>
            <a:r>
              <a:rPr lang="en-US" sz="1800" dirty="0" smtClean="0"/>
              <a:t>Part1</a:t>
            </a:r>
            <a:r>
              <a:rPr lang="en-US" sz="1800" b="1" dirty="0" smtClean="0"/>
              <a:t> &lt;/a&gt;</a:t>
            </a:r>
          </a:p>
          <a:p>
            <a:pPr>
              <a:spcAft>
                <a:spcPts val="1200"/>
              </a:spcAft>
              <a:buNone/>
            </a:pPr>
            <a:r>
              <a:rPr lang="en-US" b="1" dirty="0" smtClean="0"/>
              <a:t>			</a:t>
            </a:r>
            <a:r>
              <a:rPr lang="en-US" dirty="0" smtClean="0"/>
              <a:t>- </a:t>
            </a:r>
            <a:r>
              <a:rPr lang="ru-RU" dirty="0" smtClean="0"/>
              <a:t>ссылка:	</a:t>
            </a:r>
            <a:r>
              <a:rPr lang="en-US" b="1" dirty="0" smtClean="0"/>
              <a:t> </a:t>
            </a:r>
            <a:r>
              <a:rPr lang="en-US" sz="1800" b="1" dirty="0" smtClean="0"/>
              <a:t>&lt;a </a:t>
            </a:r>
            <a:r>
              <a:rPr lang="en-US" sz="1800" b="1" dirty="0" err="1" smtClean="0"/>
              <a:t>href</a:t>
            </a:r>
            <a:r>
              <a:rPr lang="en-US" sz="1800" dirty="0" smtClean="0"/>
              <a:t>=</a:t>
            </a:r>
            <a:r>
              <a:rPr lang="en-US" sz="1800" b="1" dirty="0" smtClean="0"/>
              <a:t>“#part1”&gt; </a:t>
            </a:r>
            <a:r>
              <a:rPr lang="en-US" sz="1800" dirty="0" smtClean="0"/>
              <a:t>text_of_Part1</a:t>
            </a:r>
            <a:r>
              <a:rPr lang="en-US" sz="1800" b="1" dirty="0" smtClean="0"/>
              <a:t> &lt;/a&gt;</a:t>
            </a:r>
            <a:endParaRPr lang="en-US" sz="1800" dirty="0" smtClean="0"/>
          </a:p>
          <a:p>
            <a:r>
              <a:rPr lang="ru-RU" dirty="0" smtClean="0"/>
              <a:t>Загрузка вызываемой страницы в новом окне:</a:t>
            </a:r>
          </a:p>
          <a:p>
            <a:pPr>
              <a:spcAft>
                <a:spcPts val="1200"/>
              </a:spcAft>
              <a:buNone/>
            </a:pPr>
            <a:r>
              <a:rPr lang="en-US" dirty="0" smtClean="0"/>
              <a:t>	</a:t>
            </a:r>
            <a:r>
              <a:rPr lang="ru-RU" dirty="0" smtClean="0"/>
              <a:t>		</a:t>
            </a:r>
            <a:r>
              <a:rPr lang="en-US" sz="1800" b="1" dirty="0" smtClean="0"/>
              <a:t>&lt;a </a:t>
            </a:r>
            <a:r>
              <a:rPr lang="en-US" sz="1800" b="1" dirty="0" err="1" smtClean="0"/>
              <a:t>href</a:t>
            </a:r>
            <a:r>
              <a:rPr lang="en-US" sz="1800" dirty="0" smtClean="0"/>
              <a:t>=“URI”</a:t>
            </a:r>
            <a:r>
              <a:rPr lang="ru-RU" sz="1800" dirty="0" smtClean="0"/>
              <a:t> </a:t>
            </a:r>
            <a:r>
              <a:rPr lang="en-US" sz="1800" b="1" dirty="0" smtClean="0"/>
              <a:t>target=“_blank”&gt;</a:t>
            </a:r>
            <a:r>
              <a:rPr lang="ru-RU" sz="1800" b="1" dirty="0" smtClean="0"/>
              <a:t> </a:t>
            </a:r>
            <a:r>
              <a:rPr lang="ru-RU" sz="1800" dirty="0" smtClean="0"/>
              <a:t>текст_ссылки</a:t>
            </a:r>
            <a:r>
              <a:rPr lang="ru-RU" sz="1800" b="1" dirty="0" smtClean="0"/>
              <a:t> </a:t>
            </a:r>
            <a:r>
              <a:rPr lang="en-US" sz="1800" b="1" dirty="0" smtClean="0"/>
              <a:t>&lt;/a&gt;</a:t>
            </a:r>
            <a:endParaRPr lang="ru-RU" sz="1800" dirty="0" smtClean="0"/>
          </a:p>
          <a:p>
            <a:r>
              <a:rPr lang="ru-RU" dirty="0" smtClean="0"/>
              <a:t>Карты ссылок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044714"/>
            <a:ext cx="914400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>
              <a:buNone/>
            </a:pPr>
            <a:r>
              <a:rPr lang="en-US" sz="2000" b="1" dirty="0" smtClean="0"/>
              <a:t>&lt;a </a:t>
            </a:r>
            <a:r>
              <a:rPr lang="en-US" sz="2000" b="1" dirty="0" err="1" smtClean="0"/>
              <a:t>href</a:t>
            </a:r>
            <a:r>
              <a:rPr lang="en-US" sz="2000" dirty="0" smtClean="0"/>
              <a:t>=“URI_</a:t>
            </a:r>
            <a:r>
              <a:rPr lang="ru-RU" sz="2000" dirty="0" smtClean="0"/>
              <a:t>документа</a:t>
            </a:r>
            <a:r>
              <a:rPr lang="en-US" sz="2000" dirty="0" smtClean="0"/>
              <a:t>”</a:t>
            </a:r>
            <a:r>
              <a:rPr lang="en-US" sz="2000" b="1" dirty="0" smtClean="0"/>
              <a:t>&gt;</a:t>
            </a:r>
            <a:r>
              <a:rPr lang="ru-RU" sz="2000" b="1" dirty="0" smtClean="0"/>
              <a:t> текст_ссылки </a:t>
            </a:r>
            <a:r>
              <a:rPr lang="en-US" sz="2000" b="1" dirty="0" smtClean="0"/>
              <a:t>&lt;/a&gt;</a:t>
            </a: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5791200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 smtClean="0"/>
              <a:t>&lt;table&gt; </a:t>
            </a:r>
            <a:r>
              <a:rPr lang="ru-RU" sz="2400" dirty="0" smtClean="0"/>
              <a:t>содержимое_таблицы</a:t>
            </a:r>
            <a:r>
              <a:rPr lang="ru-RU" sz="2400" b="1" dirty="0" smtClean="0"/>
              <a:t> </a:t>
            </a:r>
            <a:r>
              <a:rPr lang="en-US" sz="2400" b="1" dirty="0" smtClean="0"/>
              <a:t>&lt;/table&gt;</a:t>
            </a:r>
          </a:p>
          <a:p>
            <a:pPr>
              <a:spcAft>
                <a:spcPts val="1200"/>
              </a:spcAft>
              <a:buNone/>
              <a:tabLst>
                <a:tab pos="2951163" algn="l"/>
              </a:tabLst>
            </a:pPr>
            <a:r>
              <a:rPr lang="en-US" sz="2400" b="1" dirty="0" smtClean="0"/>
              <a:t>	</a:t>
            </a:r>
            <a:r>
              <a:rPr lang="ru-RU" sz="2400" u="sng" dirty="0" smtClean="0"/>
              <a:t>Основные атрибуты</a:t>
            </a:r>
            <a:r>
              <a:rPr lang="ru-RU" sz="2400" dirty="0" smtClean="0"/>
              <a:t>: 	</a:t>
            </a:r>
            <a:r>
              <a:rPr lang="en-US" sz="2400" dirty="0" smtClean="0"/>
              <a:t>align</a:t>
            </a:r>
            <a:r>
              <a:rPr lang="ru-RU" sz="2400" dirty="0" smtClean="0"/>
              <a:t> /</a:t>
            </a:r>
            <a:r>
              <a:rPr lang="en-US" sz="2400" dirty="0" smtClean="0"/>
              <a:t> background</a:t>
            </a:r>
            <a:r>
              <a:rPr lang="ru-RU" sz="2400" dirty="0" smtClean="0"/>
              <a:t> /</a:t>
            </a:r>
            <a:r>
              <a:rPr lang="en-US" sz="2400" dirty="0" smtClean="0"/>
              <a:t> </a:t>
            </a:r>
            <a:r>
              <a:rPr lang="en-US" sz="2400" dirty="0" err="1" smtClean="0"/>
              <a:t>bgcolor</a:t>
            </a:r>
            <a:r>
              <a:rPr lang="ru-RU" sz="2400" dirty="0" smtClean="0"/>
              <a:t> /</a:t>
            </a:r>
            <a:r>
              <a:rPr lang="en-US" sz="2400" dirty="0" smtClean="0"/>
              <a:t> border</a:t>
            </a:r>
            <a:r>
              <a:rPr lang="ru-RU" sz="2400" dirty="0" smtClean="0"/>
              <a:t> /	</a:t>
            </a:r>
            <a:r>
              <a:rPr lang="en-US" sz="2400" dirty="0" err="1" smtClean="0"/>
              <a:t>bordercolor</a:t>
            </a:r>
            <a:r>
              <a:rPr lang="ru-RU" sz="2400" dirty="0" smtClean="0"/>
              <a:t> 	</a:t>
            </a:r>
            <a:r>
              <a:rPr lang="en-US" sz="2400" dirty="0" err="1" smtClean="0"/>
              <a:t>cellpadding</a:t>
            </a:r>
            <a:r>
              <a:rPr lang="ru-RU" sz="2400" dirty="0" smtClean="0"/>
              <a:t> / </a:t>
            </a:r>
            <a:r>
              <a:rPr lang="en-US" sz="2400" dirty="0" err="1" smtClean="0"/>
              <a:t>cellspacing</a:t>
            </a:r>
            <a:r>
              <a:rPr lang="ru-RU" sz="2400" dirty="0" smtClean="0"/>
              <a:t> / </a:t>
            </a:r>
            <a:r>
              <a:rPr lang="en-US" sz="2400" dirty="0" smtClean="0"/>
              <a:t>height</a:t>
            </a:r>
            <a:r>
              <a:rPr lang="ru-RU" sz="2400" dirty="0" smtClean="0"/>
              <a:t> /</a:t>
            </a:r>
            <a:r>
              <a:rPr lang="en-US" sz="2400" dirty="0" smtClean="0"/>
              <a:t> width</a:t>
            </a:r>
            <a:endParaRPr lang="ru-RU" sz="2400" dirty="0" smtClean="0"/>
          </a:p>
          <a:p>
            <a:pPr>
              <a:buNone/>
              <a:tabLst>
                <a:tab pos="2951163" algn="l"/>
              </a:tabLst>
            </a:pPr>
            <a:r>
              <a:rPr lang="ru-RU" sz="2400" dirty="0" smtClean="0"/>
              <a:t>	Адаптивный размерр таблицы: </a:t>
            </a:r>
            <a:endParaRPr lang="en-US" sz="2400" dirty="0" smtClean="0"/>
          </a:p>
          <a:p>
            <a:pPr>
              <a:spcAft>
                <a:spcPts val="1800"/>
              </a:spcAft>
              <a:buNone/>
              <a:tabLst>
                <a:tab pos="1620838" algn="l"/>
                <a:tab pos="2951163" algn="l"/>
              </a:tabLst>
            </a:pPr>
            <a:r>
              <a:rPr lang="en-US" sz="1900" b="1" dirty="0" smtClean="0"/>
              <a:t>		</a:t>
            </a:r>
            <a:r>
              <a:rPr lang="en-US" sz="2100" b="1" dirty="0" smtClean="0"/>
              <a:t>&lt;table width</a:t>
            </a:r>
            <a:r>
              <a:rPr lang="en-US" sz="2100" dirty="0" smtClean="0"/>
              <a:t>=“100%” </a:t>
            </a:r>
            <a:r>
              <a:rPr lang="en-US" sz="2100" b="1" dirty="0" smtClean="0"/>
              <a:t>height</a:t>
            </a:r>
            <a:r>
              <a:rPr lang="en-US" sz="2100" dirty="0" smtClean="0"/>
              <a:t>=“100%”</a:t>
            </a:r>
            <a:r>
              <a:rPr lang="en-US" sz="2100" b="1" dirty="0" smtClean="0"/>
              <a:t>&gt;</a:t>
            </a:r>
            <a:r>
              <a:rPr lang="en-US" sz="2100" dirty="0" smtClean="0"/>
              <a:t>…</a:t>
            </a:r>
            <a:r>
              <a:rPr lang="en-US" sz="2100" b="1" dirty="0" smtClean="0"/>
              <a:t>&lt;/table&gt;</a:t>
            </a:r>
            <a:endParaRPr lang="en-US" sz="2100" dirty="0" smtClean="0"/>
          </a:p>
          <a:p>
            <a:pPr>
              <a:spcAft>
                <a:spcPts val="1800"/>
              </a:spcAft>
            </a:pPr>
            <a:r>
              <a:rPr lang="en-US" sz="2400" b="1" dirty="0" smtClean="0"/>
              <a:t>&lt;caption&gt; </a:t>
            </a:r>
            <a:r>
              <a:rPr lang="ru-RU" sz="2400" dirty="0" smtClean="0"/>
              <a:t>название_таблицы</a:t>
            </a:r>
            <a:r>
              <a:rPr lang="ru-RU" sz="2400" b="1" dirty="0" smtClean="0"/>
              <a:t> </a:t>
            </a:r>
            <a:r>
              <a:rPr lang="en-US" sz="2400" b="1" dirty="0" smtClean="0"/>
              <a:t>&lt;/caption&gt;</a:t>
            </a:r>
          </a:p>
          <a:p>
            <a:r>
              <a:rPr lang="en-US" sz="2400" b="1" dirty="0" smtClean="0"/>
              <a:t>&lt;</a:t>
            </a:r>
            <a:r>
              <a:rPr lang="en-US" sz="2400" b="1" dirty="0" err="1" smtClean="0"/>
              <a:t>tr</a:t>
            </a:r>
            <a:r>
              <a:rPr lang="en-US" sz="2400" b="1" dirty="0" smtClean="0"/>
              <a:t>&gt; </a:t>
            </a:r>
            <a:r>
              <a:rPr lang="ru-RU" sz="2400" dirty="0" smtClean="0"/>
              <a:t>ряд_ячеек</a:t>
            </a:r>
            <a:r>
              <a:rPr lang="en-US" sz="2400" dirty="0" smtClean="0"/>
              <a:t> </a:t>
            </a:r>
            <a:r>
              <a:rPr lang="en-US" sz="2400" b="1" dirty="0" smtClean="0"/>
              <a:t>&lt;/</a:t>
            </a:r>
            <a:r>
              <a:rPr lang="en-US" sz="2400" b="1" dirty="0" err="1" smtClean="0"/>
              <a:t>tr</a:t>
            </a:r>
            <a:r>
              <a:rPr lang="en-US" sz="2400" b="1" dirty="0" smtClean="0"/>
              <a:t>&gt;</a:t>
            </a:r>
            <a:endParaRPr lang="ru-RU" sz="2400" b="1" dirty="0" smtClean="0"/>
          </a:p>
          <a:p>
            <a:pPr>
              <a:spcAft>
                <a:spcPts val="1800"/>
              </a:spcAft>
              <a:buNone/>
              <a:tabLst>
                <a:tab pos="2951163" algn="l"/>
              </a:tabLst>
            </a:pPr>
            <a:r>
              <a:rPr lang="ru-RU" sz="2400" b="1" dirty="0" smtClean="0"/>
              <a:t>	</a:t>
            </a:r>
            <a:r>
              <a:rPr lang="ru-RU" sz="2400" u="sng" dirty="0" smtClean="0"/>
              <a:t>Основные атрибуты</a:t>
            </a:r>
            <a:r>
              <a:rPr lang="ru-RU" sz="2400" dirty="0" smtClean="0"/>
              <a:t>: 	</a:t>
            </a:r>
            <a:r>
              <a:rPr lang="en-US" sz="2400" dirty="0" smtClean="0"/>
              <a:t>align / </a:t>
            </a:r>
            <a:r>
              <a:rPr lang="en-US" sz="2400" dirty="0" err="1" smtClean="0"/>
              <a:t>bgcolor</a:t>
            </a:r>
            <a:r>
              <a:rPr lang="en-US" sz="2400" dirty="0" smtClean="0"/>
              <a:t> / </a:t>
            </a:r>
            <a:r>
              <a:rPr lang="en-US" sz="2400" dirty="0" err="1" smtClean="0"/>
              <a:t>bordercolor</a:t>
            </a:r>
            <a:r>
              <a:rPr lang="en-US" sz="2400" dirty="0" smtClean="0"/>
              <a:t> / valign</a:t>
            </a:r>
            <a:endParaRPr lang="en-US" sz="2400" b="1" dirty="0" smtClean="0"/>
          </a:p>
          <a:p>
            <a:r>
              <a:rPr lang="en-US" sz="2400" b="1" dirty="0" smtClean="0"/>
              <a:t>&lt;td&gt; </a:t>
            </a:r>
            <a:r>
              <a:rPr lang="ru-RU" sz="2400" dirty="0" smtClean="0"/>
              <a:t>значение_ячейки</a:t>
            </a:r>
            <a:r>
              <a:rPr lang="ru-RU" sz="2400" b="1" dirty="0" smtClean="0"/>
              <a:t> </a:t>
            </a:r>
            <a:r>
              <a:rPr lang="en-US" sz="2400" b="1" dirty="0" smtClean="0"/>
              <a:t>&lt;/td&gt;</a:t>
            </a:r>
          </a:p>
          <a:p>
            <a:pPr>
              <a:spcAft>
                <a:spcPts val="1800"/>
              </a:spcAft>
              <a:buNone/>
              <a:tabLst>
                <a:tab pos="2951163" algn="l"/>
              </a:tabLst>
            </a:pPr>
            <a:r>
              <a:rPr lang="en-US" sz="2400" b="1" dirty="0" smtClean="0"/>
              <a:t>	</a:t>
            </a:r>
            <a:r>
              <a:rPr lang="ru-RU" sz="2400" u="sng" dirty="0" smtClean="0"/>
              <a:t>Основные атрибуты</a:t>
            </a:r>
            <a:r>
              <a:rPr lang="ru-RU" sz="2400" dirty="0" smtClean="0"/>
              <a:t>: 	</a:t>
            </a:r>
            <a:r>
              <a:rPr lang="en-US" sz="2400" dirty="0" smtClean="0"/>
              <a:t>align / </a:t>
            </a:r>
            <a:r>
              <a:rPr lang="en-US" sz="2400" dirty="0" err="1" smtClean="0"/>
              <a:t>bgcolor</a:t>
            </a:r>
            <a:r>
              <a:rPr lang="en-US" sz="2400" dirty="0" smtClean="0"/>
              <a:t> / </a:t>
            </a:r>
            <a:r>
              <a:rPr lang="en-US" sz="2400" dirty="0" err="1" smtClean="0"/>
              <a:t>bordercolor</a:t>
            </a:r>
            <a:r>
              <a:rPr lang="en-US" sz="2400" dirty="0" smtClean="0"/>
              <a:t> / background / valign 	width / height / </a:t>
            </a:r>
            <a:r>
              <a:rPr lang="en-US" sz="2400" dirty="0" err="1" smtClean="0"/>
              <a:t>rowspan</a:t>
            </a:r>
            <a:r>
              <a:rPr lang="en-US" sz="2400" dirty="0" smtClean="0"/>
              <a:t> / colspan</a:t>
            </a:r>
            <a:endParaRPr lang="ru-RU" sz="2400" dirty="0" smtClean="0"/>
          </a:p>
          <a:p>
            <a:pPr>
              <a:buNone/>
              <a:tabLst>
                <a:tab pos="2784475" algn="l"/>
              </a:tabLst>
            </a:pPr>
            <a:r>
              <a:rPr lang="ru-RU" sz="2400" dirty="0" smtClean="0"/>
              <a:t>	Объединение всех ячеек строки:	</a:t>
            </a:r>
            <a:endParaRPr lang="en-US" sz="2400" dirty="0" smtClean="0"/>
          </a:p>
          <a:p>
            <a:pPr>
              <a:spcAft>
                <a:spcPts val="1800"/>
              </a:spcAft>
              <a:buNone/>
              <a:tabLst>
                <a:tab pos="1620838" algn="l"/>
              </a:tabLst>
            </a:pPr>
            <a:r>
              <a:rPr lang="en-US" sz="1900" dirty="0" smtClean="0"/>
              <a:t>		</a:t>
            </a:r>
            <a:r>
              <a:rPr lang="en-US" sz="2100" b="1" dirty="0" smtClean="0"/>
              <a:t>&lt;</a:t>
            </a:r>
            <a:r>
              <a:rPr lang="en-US" sz="2100" b="1" dirty="0" err="1" smtClean="0"/>
              <a:t>tr</a:t>
            </a:r>
            <a:r>
              <a:rPr lang="en-US" sz="2100" b="1" dirty="0" smtClean="0"/>
              <a:t>&gt; &lt;td colspan</a:t>
            </a:r>
            <a:r>
              <a:rPr lang="en-US" sz="2100" dirty="0" smtClean="0"/>
              <a:t>=“</a:t>
            </a:r>
            <a:r>
              <a:rPr lang="ru-RU" sz="2100" dirty="0" smtClean="0"/>
              <a:t>число_ячеек</a:t>
            </a:r>
            <a:r>
              <a:rPr lang="en-US" sz="2100" dirty="0" smtClean="0"/>
              <a:t>”</a:t>
            </a:r>
            <a:r>
              <a:rPr lang="en-US" sz="2100" b="1" dirty="0" smtClean="0"/>
              <a:t>&gt;</a:t>
            </a:r>
            <a:r>
              <a:rPr lang="en-US" sz="2100" dirty="0" smtClean="0"/>
              <a:t> </a:t>
            </a:r>
            <a:r>
              <a:rPr lang="ru-RU" sz="2100" dirty="0" smtClean="0"/>
              <a:t>значение </a:t>
            </a:r>
            <a:r>
              <a:rPr lang="en-US" sz="2100" b="1" dirty="0" smtClean="0"/>
              <a:t>&lt;/td&gt; &lt;/</a:t>
            </a:r>
            <a:r>
              <a:rPr lang="en-US" sz="2100" b="1" dirty="0" err="1" smtClean="0"/>
              <a:t>tr</a:t>
            </a:r>
            <a:r>
              <a:rPr lang="en-US" sz="2100" b="1" dirty="0" smtClean="0"/>
              <a:t>&gt;</a:t>
            </a:r>
          </a:p>
          <a:p>
            <a:r>
              <a:rPr lang="en-US" sz="2200" b="1" dirty="0" smtClean="0"/>
              <a:t>&lt;</a:t>
            </a:r>
            <a:r>
              <a:rPr lang="en-US" sz="2400" b="1" dirty="0" err="1" smtClean="0"/>
              <a:t>th</a:t>
            </a:r>
            <a:r>
              <a:rPr lang="en-US" sz="2400" b="1" dirty="0" smtClean="0"/>
              <a:t>&gt; </a:t>
            </a:r>
            <a:r>
              <a:rPr lang="ru-RU" sz="2400" dirty="0" smtClean="0"/>
              <a:t>название_столбца </a:t>
            </a:r>
            <a:r>
              <a:rPr lang="en-US" sz="2400" b="1" dirty="0" smtClean="0"/>
              <a:t>&lt;/</a:t>
            </a:r>
            <a:r>
              <a:rPr lang="en-US" sz="2400" b="1" dirty="0" err="1" smtClean="0"/>
              <a:t>th</a:t>
            </a:r>
            <a:r>
              <a:rPr lang="en-US" sz="2400" b="1" dirty="0" smtClean="0"/>
              <a:t>&gt;</a:t>
            </a:r>
          </a:p>
          <a:p>
            <a:pPr>
              <a:buNone/>
            </a:pPr>
            <a:r>
              <a:rPr lang="en-US" dirty="0" smtClean="0"/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7. Макетирование и дизайн </a:t>
            </a:r>
            <a:r>
              <a:rPr lang="en-US" dirty="0" smtClean="0"/>
              <a:t>web</a:t>
            </a:r>
            <a:r>
              <a:rPr lang="ru-RU" dirty="0" smtClean="0"/>
              <a:t>-страниц</a:t>
            </a:r>
            <a:br>
              <a:rPr lang="ru-RU" dirty="0" smtClean="0"/>
            </a:br>
            <a:r>
              <a:rPr lang="ru-RU" sz="2400" dirty="0" smtClean="0"/>
              <a:t>Макетирование с помощью таблиц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2133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u-RU" dirty="0" smtClean="0"/>
              <a:t>Размещение графических и текстовых элементов в произвольном месте страницы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Динамическое изменение макета страницы при изменении разрешения экрана или размера окна браузера</a:t>
            </a:r>
          </a:p>
          <a:p>
            <a:pPr>
              <a:spcAft>
                <a:spcPts val="1200"/>
              </a:spcAft>
            </a:pPr>
            <a:r>
              <a:rPr lang="ru-RU" dirty="0" smtClean="0"/>
              <a:t>Простое и быстрое создание системы навигации сайта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3352800"/>
            <a:ext cx="3581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&lt;body&gt;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&lt;table width=“100%” height=“100%”&gt;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&lt;td width=“15%” valign=“top”&gt;</a:t>
            </a:r>
          </a:p>
          <a:p>
            <a:pPr>
              <a:buNone/>
            </a:pP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Пункт меню 1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 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pPr>
              <a:buNone/>
            </a:pP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Пункт меню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 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pPr>
              <a:buNone/>
            </a:pP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Пункт меню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3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 &lt;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&lt;/td&gt;</a:t>
            </a:r>
          </a:p>
          <a:p>
            <a:pPr algn="ctr"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3351074"/>
            <a:ext cx="3886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…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&lt;td align=“center” valign=“top”&gt;</a:t>
            </a:r>
          </a:p>
          <a:p>
            <a:pPr>
              <a:buNone/>
            </a:pP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Содержимое страницы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&lt;/td&gt;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&lt;/table&gt;</a:t>
            </a:r>
          </a:p>
          <a:p>
            <a:pPr>
              <a:buNone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&lt;/body&gt;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6200" y="1066800"/>
            <a:ext cx="3810000" cy="2895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763000" cy="914400"/>
          </a:xfrm>
        </p:spPr>
        <p:txBody>
          <a:bodyPr>
            <a:normAutofit fontScale="90000"/>
          </a:bodyPr>
          <a:lstStyle/>
          <a:p>
            <a:r>
              <a:rPr lang="ru-RU" sz="3100" dirty="0" smtClean="0"/>
              <a:t>7. Макетирование и дизайн </a:t>
            </a:r>
            <a:r>
              <a:rPr lang="en-US" sz="3100" dirty="0" smtClean="0"/>
              <a:t>web</a:t>
            </a:r>
            <a:r>
              <a:rPr lang="ru-RU" sz="3100" dirty="0" smtClean="0"/>
              <a:t>-страниц</a:t>
            </a:r>
            <a:br>
              <a:rPr lang="ru-RU" sz="3100" dirty="0" smtClean="0"/>
            </a:br>
            <a:r>
              <a:rPr lang="ru-RU" sz="2700" dirty="0" smtClean="0"/>
              <a:t>Фреймы</a:t>
            </a:r>
            <a:endParaRPr lang="ru-RU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1100078"/>
            <a:ext cx="3886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Создание набора фреймов:</a:t>
            </a:r>
            <a:endParaRPr lang="en-US" u="sng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&lt;html&gt;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&lt;head&gt;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&lt;title&gt;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набор_фреймов</a:t>
            </a:r>
            <a:r>
              <a:rPr lang="ru-RU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&lt;/title&gt;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&lt;/head&gt;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&lt;frameset cols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=“</a:t>
            </a:r>
            <a:r>
              <a:rPr lang="ru-RU" smtClean="0">
                <a:latin typeface="Tahoma" pitchFamily="34" charset="0"/>
                <a:ea typeface="Tahoma" pitchFamily="34" charset="0"/>
                <a:cs typeface="Tahoma" pitchFamily="34" charset="0"/>
              </a:rPr>
              <a:t>15%</a:t>
            </a:r>
            <a:r>
              <a:rPr lang="en-US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*”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&lt;frame </a:t>
            </a:r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src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=page1.htm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&lt;frame </a:t>
            </a:r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src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=page2.htm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&lt;/frameset&gt;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&lt;/html&gt;</a:t>
            </a:r>
            <a:endParaRPr lang="ru-RU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62400" y="1066800"/>
            <a:ext cx="5105400" cy="1600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4038600" y="1066800"/>
            <a:ext cx="5105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Основные атрибуты </a:t>
            </a:r>
            <a:r>
              <a:rPr lang="en-US" b="1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frameset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cols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 “x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(%,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pel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*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”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число и р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-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р столбцов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rows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= “x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(%,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pel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*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число и р-р строк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border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=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“x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pel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)”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ширина границ фрейма</a:t>
            </a: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frameborder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=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“x (0, 1)”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рамки фреймов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2400" y="2819400"/>
            <a:ext cx="5105400" cy="3048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038600" y="2928878"/>
            <a:ext cx="5105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Основные атрибуты </a:t>
            </a:r>
            <a:r>
              <a:rPr lang="en-US" b="1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frame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src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 “URL”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адрес страницы во фрейме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frameborder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=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“x (0, 1)”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рамки фрейма</a:t>
            </a: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marginwidth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 “x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pel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)”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гор. поля</a:t>
            </a: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marginheight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= “x (</a:t>
            </a:r>
            <a:r>
              <a:rPr lang="en-US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pel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)”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верт. поля</a:t>
            </a: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bordercolor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 “x”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цвет рамок фрейма</a:t>
            </a:r>
          </a:p>
          <a:p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noresize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запрещает изменение размера</a:t>
            </a:r>
          </a:p>
          <a:p>
            <a:pPr>
              <a:tabLst>
                <a:tab pos="1517650" algn="l"/>
                <a:tab pos="3408363" algn="l"/>
              </a:tabLst>
            </a:pP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scrolling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= “x (yes, no, auto)”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–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управление  	полосами прокрутки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name</a:t>
            </a:r>
            <a:r>
              <a:rPr lang="ru-RU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“</a:t>
            </a:r>
            <a:r>
              <a:rPr lang="ru-RU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имя_фрейма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”</a:t>
            </a:r>
            <a:endParaRPr lang="ru-RU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200" y="4114800"/>
            <a:ext cx="3810000" cy="1524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" y="426720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&lt;a target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=_blank  </a:t>
            </a:r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href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=“…”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&lt;a target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=_self  </a:t>
            </a:r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href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=“…”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&lt;a target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=_parent  </a:t>
            </a:r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href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=“…”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&lt;a target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=_top  </a:t>
            </a:r>
            <a:r>
              <a:rPr lang="en-US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href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=“…”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  <a:endParaRPr lang="ru-RU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7. Макетирование и дизайн </a:t>
            </a:r>
            <a:r>
              <a:rPr lang="en-US" dirty="0" smtClean="0"/>
              <a:t>web</a:t>
            </a:r>
            <a:r>
              <a:rPr lang="ru-RU" dirty="0" smtClean="0"/>
              <a:t>-страниц</a:t>
            </a:r>
            <a:br>
              <a:rPr lang="ru-RU" dirty="0" smtClean="0"/>
            </a:br>
            <a:r>
              <a:rPr lang="ru-RU" sz="2400" dirty="0" smtClean="0"/>
              <a:t>Использование фреймов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ru-RU" dirty="0" smtClean="0"/>
              <a:t>-    Исходный код главной страницы без содержимого – требуются дополнительные действия для поддержки индексации сайта в поисковых системах 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>-    Трудности с версткой и масштабируемостью страницы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>-    Поддержка кроссбраузерности сложнее, чем при использовании  таблиц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>-    Трудности с сохранением страницы</a:t>
            </a:r>
          </a:p>
          <a:p>
            <a:pPr>
              <a:spcAft>
                <a:spcPts val="600"/>
              </a:spcAft>
              <a:buNone/>
            </a:pPr>
            <a:r>
              <a:rPr lang="ru-RU" dirty="0" smtClean="0"/>
              <a:t>-    Печать страницы требует дополнительных шагов</a:t>
            </a:r>
          </a:p>
          <a:p>
            <a:pPr>
              <a:spcAft>
                <a:spcPts val="600"/>
              </a:spcAft>
              <a:buNone/>
            </a:pPr>
            <a:r>
              <a:rPr lang="ru-RU" smtClean="0"/>
              <a:t>+    Полезны при отображении сложных наборов данных и навигации</a:t>
            </a:r>
          </a:p>
          <a:p>
            <a:pPr>
              <a:spcAft>
                <a:spcPts val="600"/>
              </a:spcAft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Вопросы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 algn="r">
              <a:buNone/>
            </a:pPr>
            <a:r>
              <a:rPr lang="ru-RU" dirty="0" smtClean="0"/>
              <a:t>Полетаева Татьяна</a:t>
            </a:r>
          </a:p>
          <a:p>
            <a:pPr algn="r">
              <a:buNone/>
            </a:pPr>
            <a:r>
              <a:rPr lang="ru-RU" dirty="0" smtClean="0"/>
              <a:t>	</a:t>
            </a:r>
            <a:r>
              <a:rPr lang="en-US" dirty="0" smtClean="0"/>
              <a:t>ta.poletaeva@gmail.com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hse</Template>
  <TotalTime>2310</TotalTime>
  <Words>2496</Words>
  <Application>Microsoft Office PowerPoint</Application>
  <PresentationFormat>Экран (4:3)</PresentationFormat>
  <Paragraphs>325</Paragraphs>
  <Slides>16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hse</vt:lpstr>
      <vt:lpstr>Основы Web-дизайна</vt:lpstr>
      <vt:lpstr>HTML (Hyper Text Markup Language)</vt:lpstr>
      <vt:lpstr>1. Элементы гипертекста Структура HTML документа</vt:lpstr>
      <vt:lpstr>Мета-данные</vt:lpstr>
      <vt:lpstr>1. Элементы гипертекста Часто используемые теги</vt:lpstr>
      <vt:lpstr>1. Элементы гипертекста Часто используемые атрибуты</vt:lpstr>
      <vt:lpstr>2. Комментарии и специальные символы</vt:lpstr>
      <vt:lpstr>3. Форматирование текста Шрифтовое оформление</vt:lpstr>
      <vt:lpstr>3. Форматирование текста Разметка структуры текста документа</vt:lpstr>
      <vt:lpstr>4. Графические элементы</vt:lpstr>
      <vt:lpstr>5. Гиперссылки</vt:lpstr>
      <vt:lpstr>6. Таблицы</vt:lpstr>
      <vt:lpstr>7. Макетирование и дизайн web-страниц Макетирование с помощью таблиц</vt:lpstr>
      <vt:lpstr>7. Макетирование и дизайн web-страниц Фреймы</vt:lpstr>
      <vt:lpstr>7. Макетирование и дизайн web-страниц Использование фреймов</vt:lpstr>
      <vt:lpstr>Вопросы?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Web-дизайна</dc:title>
  <dc:creator>T</dc:creator>
  <cp:lastModifiedBy>Slava</cp:lastModifiedBy>
  <cp:revision>166</cp:revision>
  <dcterms:created xsi:type="dcterms:W3CDTF">2006-08-16T00:00:00Z</dcterms:created>
  <dcterms:modified xsi:type="dcterms:W3CDTF">2015-01-23T08:56:09Z</dcterms:modified>
</cp:coreProperties>
</file>